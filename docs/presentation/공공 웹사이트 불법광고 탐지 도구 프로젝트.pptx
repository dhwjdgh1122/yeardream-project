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58E451-8537-4F9D-9DA1-813CB0F93097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087082-2F7D-49AA-9D3C-D31FE777F6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849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입력한 공공 웹사이트 </a:t>
            </a:r>
            <a:r>
              <a:rPr lang="en-US" altLang="ko-KR"/>
              <a:t>URL</a:t>
            </a:r>
            <a:r>
              <a:rPr lang="ko-KR" altLang="en-US"/>
              <a:t>에서 게시글과 프레임을 탐색하고</a:t>
            </a:r>
            <a:r>
              <a:rPr lang="en-US" altLang="ko-KR"/>
              <a:t>, </a:t>
            </a:r>
            <a:r>
              <a:rPr lang="ko-KR" altLang="en-US"/>
              <a:t>광고 후보의 원문과 위치를 확인할 수 있도록 만든 프로젝트입니다</a:t>
            </a:r>
            <a:r>
              <a:rPr lang="en-US" altLang="ko-KR"/>
              <a:t>. </a:t>
            </a:r>
            <a:r>
              <a:rPr lang="ko-KR" altLang="en-US"/>
              <a:t>기능 명세와 화면</a:t>
            </a:r>
            <a:r>
              <a:rPr lang="en-US" altLang="ko-KR"/>
              <a:t>·DB </a:t>
            </a:r>
            <a:r>
              <a:rPr lang="ko-KR" altLang="en-US"/>
              <a:t>설계를 중심으로 설명하겠습니다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제작 근거</a:t>
            </a:r>
            <a:r>
              <a:rPr lang="en-US" altLang="ko-KR"/>
              <a:t>: docs/PPT_CREATION_BRIEF.md</a:t>
            </a:r>
            <a:r>
              <a:rPr lang="ko-KR" altLang="en-US"/>
              <a:t>의 해당 슬라이드</a:t>
            </a:r>
            <a:r>
              <a:rPr lang="en-US" altLang="ko-KR"/>
              <a:t>. </a:t>
            </a:r>
            <a:r>
              <a:rPr lang="ko-KR" altLang="en-US"/>
              <a:t>화면설계</a:t>
            </a:r>
            <a:r>
              <a:rPr lang="en-US" altLang="ko-KR"/>
              <a:t>·DB </a:t>
            </a:r>
            <a:r>
              <a:rPr lang="ko-KR" altLang="en-US"/>
              <a:t>설계와 현재 문서 기준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87082-2F7D-49AA-9D3C-D31FE777F63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9024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메인 화면만 확인해서는 하위 게시글의 내용을 놓칠 수 있습니다</a:t>
            </a:r>
            <a:r>
              <a:rPr lang="en-US" altLang="ko-KR"/>
              <a:t>. </a:t>
            </a:r>
            <a:r>
              <a:rPr lang="ko-KR" altLang="en-US"/>
              <a:t>이 도구는 공개 링크를 따라가며 수집한 범위에서 표현과 표시 상태를 분석하고</a:t>
            </a:r>
            <a:r>
              <a:rPr lang="en-US" altLang="ko-KR"/>
              <a:t>, </a:t>
            </a:r>
            <a:r>
              <a:rPr lang="ko-KR" altLang="en-US"/>
              <a:t>사람이 확인할 근거를 남기는 데 목적이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제작 근거</a:t>
            </a:r>
            <a:r>
              <a:rPr lang="en-US" altLang="ko-KR"/>
              <a:t>: docs/PPT_CREATION_BRIEF.md</a:t>
            </a:r>
            <a:r>
              <a:rPr lang="ko-KR" altLang="en-US"/>
              <a:t>의 해당 슬라이드</a:t>
            </a:r>
            <a:r>
              <a:rPr lang="en-US" altLang="ko-KR"/>
              <a:t>. </a:t>
            </a:r>
            <a:r>
              <a:rPr lang="ko-KR" altLang="en-US"/>
              <a:t>화면설계</a:t>
            </a:r>
            <a:r>
              <a:rPr lang="en-US" altLang="ko-KR"/>
              <a:t>·DB </a:t>
            </a:r>
            <a:r>
              <a:rPr lang="ko-KR" altLang="en-US"/>
              <a:t>설계와 현재 문서 기준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87082-2F7D-49AA-9D3C-D31FE777F63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846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웹 화면을 사용하지만 중앙 서비스로 배포한 플랫폼은 아닙니다</a:t>
            </a:r>
            <a:r>
              <a:rPr lang="en-US" altLang="ko-KR"/>
              <a:t>. </a:t>
            </a:r>
            <a:r>
              <a:rPr lang="ko-KR" altLang="en-US"/>
              <a:t>각 </a:t>
            </a:r>
            <a:r>
              <a:rPr lang="en-US" altLang="ko-KR"/>
              <a:t>PC</a:t>
            </a:r>
            <a:r>
              <a:rPr lang="ko-KR" altLang="en-US"/>
              <a:t>에서 서버와 화면을 실행하고 데이터를 보관합니다</a:t>
            </a:r>
            <a:r>
              <a:rPr lang="en-US" altLang="ko-KR"/>
              <a:t>. </a:t>
            </a:r>
            <a:r>
              <a:rPr lang="ko-KR" altLang="en-US"/>
              <a:t>현재 광고 후보 판별은 규칙과 </a:t>
            </a:r>
            <a:r>
              <a:rPr lang="en-US" altLang="ko-KR"/>
              <a:t>DOM/</a:t>
            </a:r>
            <a:r>
              <a:rPr lang="ko-KR" altLang="en-US"/>
              <a:t>스타일 분석이며 생성형 </a:t>
            </a:r>
            <a:r>
              <a:rPr lang="en-US" altLang="ko-KR"/>
              <a:t>AI </a:t>
            </a:r>
            <a:r>
              <a:rPr lang="ko-KR" altLang="en-US"/>
              <a:t>추론을 사용하지 않습니다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제작 근거</a:t>
            </a:r>
            <a:r>
              <a:rPr lang="en-US" altLang="ko-KR"/>
              <a:t>: docs/PPT_CREATION_BRIEF.md</a:t>
            </a:r>
            <a:r>
              <a:rPr lang="ko-KR" altLang="en-US"/>
              <a:t>의 해당 슬라이드</a:t>
            </a:r>
            <a:r>
              <a:rPr lang="en-US" altLang="ko-KR"/>
              <a:t>. </a:t>
            </a:r>
            <a:r>
              <a:rPr lang="ko-KR" altLang="en-US"/>
              <a:t>화면설계</a:t>
            </a:r>
            <a:r>
              <a:rPr lang="en-US" altLang="ko-KR"/>
              <a:t>·DB </a:t>
            </a:r>
            <a:r>
              <a:rPr lang="ko-KR" altLang="en-US"/>
              <a:t>설계와 현재 문서 기준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87082-2F7D-49AA-9D3C-D31FE777F63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945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요구사항은 수집</a:t>
            </a:r>
            <a:r>
              <a:rPr lang="en-US" altLang="ko-KR"/>
              <a:t>·</a:t>
            </a:r>
            <a:r>
              <a:rPr lang="ko-KR" altLang="en-US"/>
              <a:t>필수</a:t>
            </a:r>
            <a:r>
              <a:rPr lang="en-US" altLang="ko-KR"/>
              <a:t>4</a:t>
            </a:r>
            <a:r>
              <a:rPr lang="ko-KR" altLang="en-US"/>
              <a:t>종</a:t>
            </a:r>
            <a:r>
              <a:rPr lang="en-US" altLang="ko-KR"/>
              <a:t>·</a:t>
            </a:r>
            <a:r>
              <a:rPr lang="ko-KR" altLang="en-US"/>
              <a:t>위치</a:t>
            </a:r>
            <a:r>
              <a:rPr lang="en-US" altLang="ko-KR"/>
              <a:t>·</a:t>
            </a:r>
            <a:r>
              <a:rPr lang="ko-KR" altLang="en-US"/>
              <a:t>결과 제공이고</a:t>
            </a:r>
            <a:r>
              <a:rPr lang="en-US" altLang="ko-KR"/>
              <a:t>, </a:t>
            </a:r>
            <a:r>
              <a:rPr lang="ko-KR" altLang="en-US"/>
              <a:t>기능 명세는 이를 실제 입력과 처리</a:t>
            </a:r>
            <a:r>
              <a:rPr lang="en-US" altLang="ko-KR"/>
              <a:t>·</a:t>
            </a:r>
            <a:r>
              <a:rPr lang="ko-KR" altLang="en-US"/>
              <a:t>예외 동작으로 풀어낸 것입니다</a:t>
            </a:r>
            <a:r>
              <a:rPr lang="en-US" altLang="ko-KR"/>
              <a:t>. </a:t>
            </a:r>
            <a:r>
              <a:rPr lang="ko-KR" altLang="en-US"/>
              <a:t>입력 오류는 거부하고</a:t>
            </a:r>
            <a:r>
              <a:rPr lang="en-US" altLang="ko-KR"/>
              <a:t>, </a:t>
            </a:r>
            <a:r>
              <a:rPr lang="ko-KR" altLang="en-US"/>
              <a:t>수집 실패를 정상</a:t>
            </a:r>
            <a:r>
              <a:rPr lang="en-US" altLang="ko-KR"/>
              <a:t>0</a:t>
            </a:r>
            <a:r>
              <a:rPr lang="ko-KR" altLang="en-US"/>
              <a:t>건으로 표시하지 않으며</a:t>
            </a:r>
            <a:r>
              <a:rPr lang="en-US" altLang="ko-KR"/>
              <a:t>, </a:t>
            </a:r>
            <a:r>
              <a:rPr lang="ko-KR" altLang="en-US"/>
              <a:t>중단해도 완료된 문서는 보존하도록 정했습니다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제작 근거</a:t>
            </a:r>
            <a:r>
              <a:rPr lang="en-US" altLang="ko-KR"/>
              <a:t>: docs/PPT_CREATION_BRIEF.md</a:t>
            </a:r>
            <a:r>
              <a:rPr lang="ko-KR" altLang="en-US"/>
              <a:t>의 해당 슬라이드</a:t>
            </a:r>
            <a:r>
              <a:rPr lang="en-US" altLang="ko-KR"/>
              <a:t>. </a:t>
            </a:r>
            <a:r>
              <a:rPr lang="ko-KR" altLang="en-US"/>
              <a:t>화면설계</a:t>
            </a:r>
            <a:r>
              <a:rPr lang="en-US" altLang="ko-KR"/>
              <a:t>·DB </a:t>
            </a:r>
            <a:r>
              <a:rPr lang="ko-KR" altLang="en-US"/>
              <a:t>설계와 현재 문서 기준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87082-2F7D-49AA-9D3C-D31FE777F63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5710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UI</a:t>
            </a:r>
            <a:r>
              <a:rPr lang="ko-KR" altLang="en-US"/>
              <a:t>가 분석 작업을 만들면 서버가 문서를 수집하는 대로 분석합니다</a:t>
            </a:r>
            <a:r>
              <a:rPr lang="en-US" altLang="ko-KR"/>
              <a:t>. </a:t>
            </a:r>
            <a:r>
              <a:rPr lang="ko-KR" altLang="en-US"/>
              <a:t>탐지기는 원문과 요소 위치를 보존하고</a:t>
            </a:r>
            <a:r>
              <a:rPr lang="en-US" altLang="ko-KR"/>
              <a:t>, </a:t>
            </a:r>
            <a:r>
              <a:rPr lang="ko-KR" altLang="en-US"/>
              <a:t>결과 변환과 </a:t>
            </a:r>
            <a:r>
              <a:rPr lang="en-US" altLang="ko-KR"/>
              <a:t>DB </a:t>
            </a:r>
            <a:r>
              <a:rPr lang="ko-KR" altLang="en-US"/>
              <a:t>저장은 별도 역할로 처리합니다</a:t>
            </a:r>
            <a:r>
              <a:rPr lang="en-US" altLang="ko-KR"/>
              <a:t>. </a:t>
            </a:r>
            <a:r>
              <a:rPr lang="ko-KR" altLang="en-US"/>
              <a:t>진행 중 작업과 완료 이력의 수명도 구분했습니다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제작 근거</a:t>
            </a:r>
            <a:r>
              <a:rPr lang="en-US" altLang="ko-KR"/>
              <a:t>: docs/PPT_CREATION_BRIEF.md</a:t>
            </a:r>
            <a:r>
              <a:rPr lang="ko-KR" altLang="en-US"/>
              <a:t>의 해당 슬라이드</a:t>
            </a:r>
            <a:r>
              <a:rPr lang="en-US" altLang="ko-KR"/>
              <a:t>. </a:t>
            </a:r>
            <a:r>
              <a:rPr lang="ko-KR" altLang="en-US"/>
              <a:t>화면설계</a:t>
            </a:r>
            <a:r>
              <a:rPr lang="en-US" altLang="ko-KR"/>
              <a:t>·DB </a:t>
            </a:r>
            <a:r>
              <a:rPr lang="ko-KR" altLang="en-US"/>
              <a:t>설계와 현재 문서 기준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87082-2F7D-49AA-9D3C-D31FE777F63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16409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프로그램이 제시하는 것은 검토할 후보입니다</a:t>
            </a:r>
            <a:r>
              <a:rPr lang="en-US" altLang="ko-KR"/>
              <a:t>. </a:t>
            </a:r>
            <a:r>
              <a:rPr lang="ko-KR" altLang="en-US"/>
              <a:t>사용자는 원문과 수집 범위를 확인한 뒤 판단과 근거를 기록합니다</a:t>
            </a:r>
            <a:r>
              <a:rPr lang="en-US" altLang="ko-KR"/>
              <a:t>. </a:t>
            </a:r>
            <a:r>
              <a:rPr lang="ko-KR" altLang="en-US"/>
              <a:t>이 판단을 기록해도 기존 분석이나 제출 </a:t>
            </a:r>
            <a:r>
              <a:rPr lang="en-US" altLang="ko-KR"/>
              <a:t>JSON</a:t>
            </a:r>
            <a:r>
              <a:rPr lang="ko-KR" altLang="en-US"/>
              <a:t>을 자동 변경하지 않습니다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제작 근거</a:t>
            </a:r>
            <a:r>
              <a:rPr lang="en-US" altLang="ko-KR"/>
              <a:t>: docs/PPT_CREATION_BRIEF.md</a:t>
            </a:r>
            <a:r>
              <a:rPr lang="ko-KR" altLang="en-US"/>
              <a:t>의 해당 슬라이드</a:t>
            </a:r>
            <a:r>
              <a:rPr lang="en-US" altLang="ko-KR"/>
              <a:t>. </a:t>
            </a:r>
            <a:r>
              <a:rPr lang="ko-KR" altLang="en-US"/>
              <a:t>화면설계</a:t>
            </a:r>
            <a:r>
              <a:rPr lang="en-US" altLang="ko-KR"/>
              <a:t>·DB </a:t>
            </a:r>
            <a:r>
              <a:rPr lang="ko-KR" altLang="en-US"/>
              <a:t>설계와 현재 문서 기준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87082-2F7D-49AA-9D3C-D31FE777F63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92502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사용자가 조절하는 값과 결과 필터를 구분했습니다</a:t>
            </a:r>
            <a:r>
              <a:rPr lang="en-US" altLang="ko-KR"/>
              <a:t>. </a:t>
            </a:r>
            <a:r>
              <a:rPr lang="ko-KR" altLang="en-US"/>
              <a:t>작업의 전체 분모를 알 수 없어 가짜 퍼센트 대신 실제 건수를 보여줍니다</a:t>
            </a:r>
            <a:r>
              <a:rPr lang="en-US" altLang="ko-KR"/>
              <a:t>. </a:t>
            </a:r>
            <a:r>
              <a:rPr lang="ko-KR" altLang="en-US"/>
              <a:t>긴 안내는 사유별로 묶고</a:t>
            </a:r>
            <a:r>
              <a:rPr lang="en-US" altLang="ko-KR"/>
              <a:t>, </a:t>
            </a:r>
            <a:r>
              <a:rPr lang="ko-KR" altLang="en-US"/>
              <a:t>개별 주소는 펼쳐보게 해 결과를 읽기 쉽게 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제작 근거</a:t>
            </a:r>
            <a:r>
              <a:rPr lang="en-US" altLang="ko-KR"/>
              <a:t>: docs/PPT_CREATION_BRIEF.md</a:t>
            </a:r>
            <a:r>
              <a:rPr lang="ko-KR" altLang="en-US"/>
              <a:t>의 해당 슬라이드</a:t>
            </a:r>
            <a:r>
              <a:rPr lang="en-US" altLang="ko-KR"/>
              <a:t>. </a:t>
            </a:r>
            <a:r>
              <a:rPr lang="ko-KR" altLang="en-US"/>
              <a:t>화면설계</a:t>
            </a:r>
            <a:r>
              <a:rPr lang="en-US" altLang="ko-KR"/>
              <a:t>·DB </a:t>
            </a:r>
            <a:r>
              <a:rPr lang="ko-KR" altLang="en-US"/>
              <a:t>설계와 현재 문서 기준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87082-2F7D-49AA-9D3C-D31FE777F63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6644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목록은</a:t>
            </a:r>
            <a:r>
              <a:rPr lang="en-US" altLang="ko-KR"/>
              <a:t>20</a:t>
            </a:r>
            <a:r>
              <a:rPr lang="ko-KR" altLang="en-US"/>
              <a:t>개씩 조회하고 </a:t>
            </a:r>
            <a:r>
              <a:rPr lang="en-US" altLang="ko-KR"/>
              <a:t>URL </a:t>
            </a:r>
            <a:r>
              <a:rPr lang="ko-KR" altLang="en-US"/>
              <a:t>버튼을 선택하면 같은 화면 아래에서 상세를 봅니다</a:t>
            </a:r>
            <a:r>
              <a:rPr lang="en-US" altLang="ko-KR"/>
              <a:t>. </a:t>
            </a:r>
            <a:r>
              <a:rPr lang="ko-KR" altLang="en-US"/>
              <a:t>검토자와 이유를 필수로 입력하고 기록은 누적합니다</a:t>
            </a:r>
            <a:r>
              <a:rPr lang="en-US" altLang="ko-KR"/>
              <a:t>. </a:t>
            </a:r>
            <a:r>
              <a:rPr lang="ko-KR" altLang="en-US"/>
              <a:t>검토 기록을 수정</a:t>
            </a:r>
            <a:r>
              <a:rPr lang="en-US" altLang="ko-KR"/>
              <a:t>·</a:t>
            </a:r>
            <a:r>
              <a:rPr lang="ko-KR" altLang="en-US"/>
              <a:t>삭제하거나 제출 승인으로 바꾸는 기능은 구현하지 않았습니다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제작 근거</a:t>
            </a:r>
            <a:r>
              <a:rPr lang="en-US" altLang="ko-KR"/>
              <a:t>: docs/PPT_CREATION_BRIEF.md</a:t>
            </a:r>
            <a:r>
              <a:rPr lang="ko-KR" altLang="en-US"/>
              <a:t>의 해당 슬라이드</a:t>
            </a:r>
            <a:r>
              <a:rPr lang="en-US" altLang="ko-KR"/>
              <a:t>. </a:t>
            </a:r>
            <a:r>
              <a:rPr lang="ko-KR" altLang="en-US"/>
              <a:t>화면설계</a:t>
            </a:r>
            <a:r>
              <a:rPr lang="en-US" altLang="ko-KR"/>
              <a:t>·DB </a:t>
            </a:r>
            <a:r>
              <a:rPr lang="ko-KR" altLang="en-US"/>
              <a:t>설계와 현재 문서 기준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87082-2F7D-49AA-9D3C-D31FE777F63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33672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동적 분석은 더 많은 렌더링 정보를 관찰하는 방식이지 항상 더 정확한 판정이라는 뜻은 아닙니다</a:t>
            </a:r>
            <a:r>
              <a:rPr lang="en-US" altLang="ko-KR"/>
              <a:t>. </a:t>
            </a:r>
            <a:r>
              <a:rPr lang="ko-KR" altLang="en-US"/>
              <a:t>문서는</a:t>
            </a:r>
            <a:r>
              <a:rPr lang="en-US" altLang="ko-KR"/>
              <a:t>1~1000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깊이는</a:t>
            </a:r>
            <a:r>
              <a:rPr lang="en-US" altLang="ko-KR"/>
              <a:t>0~20, </a:t>
            </a:r>
            <a:r>
              <a:rPr lang="ko-KR" altLang="en-US"/>
              <a:t>시간은</a:t>
            </a:r>
            <a:r>
              <a:rPr lang="en-US" altLang="ko-KR"/>
              <a:t>1~30</a:t>
            </a:r>
            <a:r>
              <a:rPr lang="ko-KR" altLang="en-US"/>
              <a:t>분으로 바꿀 수 있습니다</a:t>
            </a:r>
            <a:r>
              <a:rPr lang="en-US" altLang="ko-KR"/>
              <a:t>. </a:t>
            </a:r>
            <a:r>
              <a:rPr lang="ko-KR" altLang="en-US"/>
              <a:t>같은 호스트와 한도 안에서 탐색하며 읽기와 관련 없는 작업 링크</a:t>
            </a:r>
            <a:r>
              <a:rPr lang="en-US" altLang="ko-KR"/>
              <a:t>·</a:t>
            </a:r>
            <a:r>
              <a:rPr lang="ko-KR" altLang="en-US"/>
              <a:t>첨부파일은 제외합니다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제작 근거</a:t>
            </a:r>
            <a:r>
              <a:rPr lang="en-US" altLang="ko-KR"/>
              <a:t>: docs/PPT_CREATION_BRIEF.md</a:t>
            </a:r>
            <a:r>
              <a:rPr lang="ko-KR" altLang="en-US"/>
              <a:t>의 해당 슬라이드</a:t>
            </a:r>
            <a:r>
              <a:rPr lang="en-US" altLang="ko-KR"/>
              <a:t>. </a:t>
            </a:r>
            <a:r>
              <a:rPr lang="ko-KR" altLang="en-US"/>
              <a:t>화면설계</a:t>
            </a:r>
            <a:r>
              <a:rPr lang="en-US" altLang="ko-KR"/>
              <a:t>·DB </a:t>
            </a:r>
            <a:r>
              <a:rPr lang="ko-KR" altLang="en-US"/>
              <a:t>설계와 현재 문서 기준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87082-2F7D-49AA-9D3C-D31FE777F63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9898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내용 규칙은 관련 주제와 검색</a:t>
            </a:r>
            <a:r>
              <a:rPr lang="en-US" altLang="ko-KR"/>
              <a:t>·</a:t>
            </a:r>
            <a:r>
              <a:rPr lang="ko-KR" altLang="en-US"/>
              <a:t>이용 유도 표현을 확인하고 예방</a:t>
            </a:r>
            <a:r>
              <a:rPr lang="en-US" altLang="ko-KR"/>
              <a:t>/</a:t>
            </a:r>
            <a:r>
              <a:rPr lang="ko-KR" altLang="en-US"/>
              <a:t>신고 등의 문맥을 구분합니다</a:t>
            </a:r>
            <a:r>
              <a:rPr lang="en-US" altLang="ko-KR"/>
              <a:t>. </a:t>
            </a:r>
            <a:r>
              <a:rPr lang="ko-KR" altLang="en-US"/>
              <a:t>관련 홍보 원문 구간과 겹치는 특징만 현 정책의</a:t>
            </a:r>
            <a:r>
              <a:rPr lang="en-US" altLang="ko-KR"/>
              <a:t>4</a:t>
            </a:r>
            <a:r>
              <a:rPr lang="ko-KR" altLang="en-US"/>
              <a:t>종 제출 후보로 선택합니다</a:t>
            </a:r>
            <a:r>
              <a:rPr lang="en-US" altLang="ko-KR"/>
              <a:t>. </a:t>
            </a:r>
            <a:r>
              <a:rPr lang="ko-KR" altLang="en-US"/>
              <a:t>일반 표시 홍보에는 없는 기법을 붙이지 않습니다</a:t>
            </a:r>
            <a:r>
              <a:rPr lang="en-US" altLang="ko-KR"/>
              <a:t>. </a:t>
            </a:r>
            <a:r>
              <a:rPr lang="ko-KR" altLang="en-US"/>
              <a:t>이 규칙도 법적 확정이나 전체 정확도 보장은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제작 근거</a:t>
            </a:r>
            <a:r>
              <a:rPr lang="en-US" altLang="ko-KR"/>
              <a:t>: docs/PPT_CREATION_BRIEF.md</a:t>
            </a:r>
            <a:r>
              <a:rPr lang="ko-KR" altLang="en-US"/>
              <a:t>의 해당 슬라이드</a:t>
            </a:r>
            <a:r>
              <a:rPr lang="en-US" altLang="ko-KR"/>
              <a:t>. </a:t>
            </a:r>
            <a:r>
              <a:rPr lang="ko-KR" altLang="en-US"/>
              <a:t>화면설계</a:t>
            </a:r>
            <a:r>
              <a:rPr lang="en-US" altLang="ko-KR"/>
              <a:t>·DB </a:t>
            </a:r>
            <a:r>
              <a:rPr lang="ko-KR" altLang="en-US"/>
              <a:t>설계와 현재 문서 기준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87082-2F7D-49AA-9D3C-D31FE777F63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066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제출 근거는 정규화 전 원문을 보존합니다</a:t>
            </a:r>
            <a:r>
              <a:rPr lang="en-US" altLang="ko-KR"/>
              <a:t>. </a:t>
            </a:r>
            <a:r>
              <a:rPr lang="ko-KR" altLang="en-US"/>
              <a:t>필수 결과는 </a:t>
            </a:r>
            <a:r>
              <a:rPr lang="en-US" altLang="ko-KR"/>
              <a:t>result.json, </a:t>
            </a:r>
            <a:r>
              <a:rPr lang="ko-KR" altLang="en-US"/>
              <a:t>일반 표시 홍보 등의 추가 결과는 </a:t>
            </a:r>
            <a:r>
              <a:rPr lang="en-US" altLang="ko-KR"/>
              <a:t>result_extra.json, </a:t>
            </a:r>
            <a:r>
              <a:rPr lang="ko-KR" altLang="en-US"/>
              <a:t>범위</a:t>
            </a:r>
            <a:r>
              <a:rPr lang="en-US" altLang="ko-KR"/>
              <a:t>·</a:t>
            </a:r>
            <a:r>
              <a:rPr lang="ko-KR" altLang="en-US"/>
              <a:t>안내를 포함한 검수 자료는 </a:t>
            </a:r>
            <a:r>
              <a:rPr lang="en-US" altLang="ko-KR"/>
              <a:t>content-candidates.json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필터는 화면 표시만 바꾸며 다운로드 원본은 유지합니다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제작 근거</a:t>
            </a:r>
            <a:r>
              <a:rPr lang="en-US" altLang="ko-KR"/>
              <a:t>: docs/PPT_CREATION_BRIEF.md</a:t>
            </a:r>
            <a:r>
              <a:rPr lang="ko-KR" altLang="en-US"/>
              <a:t>의 해당 슬라이드</a:t>
            </a:r>
            <a:r>
              <a:rPr lang="en-US" altLang="ko-KR"/>
              <a:t>. </a:t>
            </a:r>
            <a:r>
              <a:rPr lang="ko-KR" altLang="en-US"/>
              <a:t>화면설계</a:t>
            </a:r>
            <a:r>
              <a:rPr lang="en-US" altLang="ko-KR"/>
              <a:t>·DB </a:t>
            </a:r>
            <a:r>
              <a:rPr lang="ko-KR" altLang="en-US"/>
              <a:t>설계와 현재 문서 기준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87082-2F7D-49AA-9D3C-D31FE777F63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75142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후보</a:t>
            </a:r>
            <a:r>
              <a:rPr lang="en-US" altLang="ko-KR"/>
              <a:t>ID</a:t>
            </a:r>
            <a:r>
              <a:rPr lang="ko-KR" altLang="en-US"/>
              <a:t>는 </a:t>
            </a:r>
            <a:r>
              <a:rPr lang="en-US" altLang="ko-KR"/>
              <a:t>feature-1, content-1</a:t>
            </a:r>
            <a:r>
              <a:rPr lang="ko-KR" altLang="en-US"/>
              <a:t>처럼 분석 안에서 부여되므로 다른 분석에서도 반복될 수 있습니다</a:t>
            </a:r>
            <a:r>
              <a:rPr lang="en-US" altLang="ko-KR"/>
              <a:t>. </a:t>
            </a:r>
            <a:r>
              <a:rPr lang="ko-KR" altLang="en-US"/>
              <a:t>따라서 분석</a:t>
            </a:r>
            <a:r>
              <a:rPr lang="en-US" altLang="ko-KR"/>
              <a:t>ID</a:t>
            </a:r>
            <a:r>
              <a:rPr lang="ko-KR" altLang="en-US"/>
              <a:t>와 묶어 식별합니다</a:t>
            </a:r>
            <a:r>
              <a:rPr lang="en-US" altLang="ko-KR"/>
              <a:t>. reviews</a:t>
            </a:r>
            <a:r>
              <a:rPr lang="ko-KR" altLang="en-US"/>
              <a:t>의 두 필드가 하나의 복합 외래키로 후보를 참조해 다른 분석의 후보와 섞이지 않도록 구성했습니다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ERD: analyses(id PK), candidates(analysis_id,id </a:t>
            </a:r>
            <a:r>
              <a:rPr lang="ko-KR" altLang="en-US"/>
              <a:t>복합</a:t>
            </a:r>
            <a:r>
              <a:rPr lang="en-US" altLang="ko-KR"/>
              <a:t>PK). reviews</a:t>
            </a:r>
            <a:r>
              <a:rPr lang="ko-KR" altLang="en-US"/>
              <a:t>의 </a:t>
            </a:r>
            <a:r>
              <a:rPr lang="en-US" altLang="ko-KR"/>
              <a:t>(analysis_id,candidate_id)</a:t>
            </a:r>
            <a:r>
              <a:rPr lang="ko-KR" altLang="en-US"/>
              <a:t>는 </a:t>
            </a:r>
            <a:r>
              <a:rPr lang="en-US" altLang="ko-KR"/>
              <a:t>candidates(analysis_id,id)</a:t>
            </a:r>
            <a:r>
              <a:rPr lang="ko-KR" altLang="en-US"/>
              <a:t>를 참조하는 하나의 복합</a:t>
            </a:r>
            <a:r>
              <a:rPr lang="en-US" altLang="ko-KR"/>
              <a:t>FK</a:t>
            </a:r>
            <a:r>
              <a:rPr lang="ko-KR" altLang="en-US"/>
              <a:t>입니다</a:t>
            </a:r>
            <a:r>
              <a:rPr lang="en-US" altLang="ko-KR"/>
              <a:t>. analyses</a:t>
            </a:r>
            <a:r>
              <a:rPr lang="ko-KR" altLang="en-US"/>
              <a:t>로의 직접</a:t>
            </a:r>
            <a:r>
              <a:rPr lang="en-US" altLang="ko-KR"/>
              <a:t>FK</a:t>
            </a:r>
            <a:r>
              <a:rPr lang="ko-KR" altLang="en-US"/>
              <a:t>나 </a:t>
            </a:r>
            <a:r>
              <a:rPr lang="en-US" altLang="ko-KR"/>
              <a:t>jobs/user/vector </a:t>
            </a:r>
            <a:r>
              <a:rPr lang="ko-KR" altLang="en-US"/>
              <a:t>테이블은 없습니다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제작 근거</a:t>
            </a:r>
            <a:r>
              <a:rPr lang="en-US" altLang="ko-KR"/>
              <a:t>: docs/PPT_CREATION_BRIEF.md</a:t>
            </a:r>
            <a:r>
              <a:rPr lang="ko-KR" altLang="en-US"/>
              <a:t>의 해당 슬라이드</a:t>
            </a:r>
            <a:r>
              <a:rPr lang="en-US" altLang="ko-KR"/>
              <a:t>. </a:t>
            </a:r>
            <a:r>
              <a:rPr lang="ko-KR" altLang="en-US"/>
              <a:t>화면설계</a:t>
            </a:r>
            <a:r>
              <a:rPr lang="en-US" altLang="ko-KR"/>
              <a:t>·DB </a:t>
            </a:r>
            <a:r>
              <a:rPr lang="ko-KR" altLang="en-US"/>
              <a:t>설계와 현재 문서 기준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87082-2F7D-49AA-9D3C-D31FE777F63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18881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DB</a:t>
            </a:r>
            <a:r>
              <a:rPr lang="ko-KR" altLang="en-US"/>
              <a:t>를 넣은 이유는 이력 재조회와 판단 근거 보존입니다</a:t>
            </a:r>
            <a:r>
              <a:rPr lang="en-US" altLang="ko-KR"/>
              <a:t>. </a:t>
            </a:r>
            <a:r>
              <a:rPr lang="ko-KR" altLang="en-US"/>
              <a:t>현재</a:t>
            </a:r>
            <a:r>
              <a:rPr lang="en-US" altLang="ko-KR"/>
              <a:t>PC</a:t>
            </a:r>
            <a:r>
              <a:rPr lang="ko-KR" altLang="en-US"/>
              <a:t>의 검토 필드</a:t>
            </a:r>
            <a:r>
              <a:rPr lang="en-US" altLang="ko-KR"/>
              <a:t>·</a:t>
            </a:r>
            <a:r>
              <a:rPr lang="ko-KR" altLang="en-US"/>
              <a:t>재실행 유지와 다른</a:t>
            </a:r>
            <a:r>
              <a:rPr lang="en-US" altLang="ko-KR"/>
              <a:t>PC</a:t>
            </a:r>
            <a:r>
              <a:rPr lang="ko-KR" altLang="en-US"/>
              <a:t>의 정상 작동</a:t>
            </a:r>
            <a:r>
              <a:rPr lang="en-US" altLang="ko-KR"/>
              <a:t>/</a:t>
            </a:r>
            <a:r>
              <a:rPr lang="ko-KR" altLang="en-US"/>
              <a:t>기록 유지 보고를 받았습니다</a:t>
            </a:r>
            <a:r>
              <a:rPr lang="en-US" altLang="ko-KR"/>
              <a:t>. </a:t>
            </a:r>
            <a:r>
              <a:rPr lang="ko-KR" altLang="en-US"/>
              <a:t>이는 정량적 시간 절감 실험과 다르며</a:t>
            </a:r>
            <a:r>
              <a:rPr lang="en-US" altLang="ko-KR"/>
              <a:t>, SHA-256 </a:t>
            </a:r>
            <a:r>
              <a:rPr lang="ko-KR" altLang="en-US"/>
              <a:t>사본 해시는 불일치 확인용이지 전자서명이나 변조 방지 장치는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제작 근거</a:t>
            </a:r>
            <a:r>
              <a:rPr lang="en-US" altLang="ko-KR"/>
              <a:t>: docs/PPT_CREATION_BRIEF.md</a:t>
            </a:r>
            <a:r>
              <a:rPr lang="ko-KR" altLang="en-US"/>
              <a:t>의 해당 슬라이드</a:t>
            </a:r>
            <a:r>
              <a:rPr lang="en-US" altLang="ko-KR"/>
              <a:t>. </a:t>
            </a:r>
            <a:r>
              <a:rPr lang="ko-KR" altLang="en-US"/>
              <a:t>화면설계</a:t>
            </a:r>
            <a:r>
              <a:rPr lang="en-US" altLang="ko-KR"/>
              <a:t>·DB </a:t>
            </a:r>
            <a:r>
              <a:rPr lang="ko-KR" altLang="en-US"/>
              <a:t>설계와 현재 문서 기준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87082-2F7D-49AA-9D3C-D31FE777F63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9039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사례에서는 링크 발견뿐 아니라</a:t>
            </a:r>
            <a:r>
              <a:rPr lang="en-US" altLang="ko-KR"/>
              <a:t>4,916</a:t>
            </a:r>
            <a:r>
              <a:rPr lang="ko-KR" altLang="en-US"/>
              <a:t>자 본문이 후보로 기록되어 실제 본문 도달을 확인했습니다</a:t>
            </a:r>
            <a:r>
              <a:rPr lang="en-US" altLang="ko-KR"/>
              <a:t>. </a:t>
            </a:r>
            <a:r>
              <a:rPr lang="ko-KR" altLang="en-US"/>
              <a:t>전체</a:t>
            </a:r>
            <a:r>
              <a:rPr lang="en-US" altLang="ko-KR"/>
              <a:t>400</a:t>
            </a:r>
            <a:r>
              <a:rPr lang="ko-KR" altLang="en-US"/>
              <a:t>개는</a:t>
            </a:r>
            <a:r>
              <a:rPr lang="en-US" altLang="ko-KR"/>
              <a:t>385</a:t>
            </a:r>
            <a:r>
              <a:rPr lang="ko-KR" altLang="en-US"/>
              <a:t>개 내용 후보와</a:t>
            </a:r>
            <a:r>
              <a:rPr lang="en-US" altLang="ko-KR"/>
              <a:t>15</a:t>
            </a:r>
            <a:r>
              <a:rPr lang="ko-KR" altLang="en-US"/>
              <a:t>개 특징의 합입니다</a:t>
            </a:r>
            <a:r>
              <a:rPr lang="en-US" altLang="ko-KR"/>
              <a:t>. </a:t>
            </a:r>
            <a:r>
              <a:rPr lang="ko-KR" altLang="en-US"/>
              <a:t>목록 문구가 여러 페이지에서 반복되므로 고유 광고</a:t>
            </a:r>
            <a:r>
              <a:rPr lang="en-US" altLang="ko-KR"/>
              <a:t>400</a:t>
            </a:r>
            <a:r>
              <a:rPr lang="ko-KR" altLang="en-US"/>
              <a:t>건이 아닙니다</a:t>
            </a:r>
            <a:r>
              <a:rPr lang="en-US" altLang="ko-KR"/>
              <a:t>. </a:t>
            </a:r>
            <a:r>
              <a:rPr lang="ko-KR" altLang="en-US"/>
              <a:t>원본</a:t>
            </a:r>
            <a:r>
              <a:rPr lang="en-US" altLang="ko-KR"/>
              <a:t>JSON·</a:t>
            </a:r>
            <a:r>
              <a:rPr lang="ko-KR" altLang="en-US"/>
              <a:t>전체</a:t>
            </a:r>
            <a:r>
              <a:rPr lang="en-US" altLang="ko-KR"/>
              <a:t>coverage</a:t>
            </a:r>
            <a:r>
              <a:rPr lang="ko-KR" altLang="en-US"/>
              <a:t>와 정답 전수 검수가 없으므로 정확도</a:t>
            </a:r>
            <a:r>
              <a:rPr lang="en-US" altLang="ko-KR"/>
              <a:t>·</a:t>
            </a:r>
            <a:r>
              <a:rPr lang="ko-KR" altLang="en-US"/>
              <a:t>재현율은 제시하지 않습니다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사용자 이력 저장시각</a:t>
            </a:r>
            <a:r>
              <a:rPr lang="en-US" altLang="ko-KR"/>
              <a:t>: 2026-10-25T14:33:50.457618+00:00. </a:t>
            </a:r>
            <a:r>
              <a:rPr lang="ko-KR" altLang="en-US"/>
              <a:t>성인물</a:t>
            </a:r>
            <a:r>
              <a:rPr lang="en-US" altLang="ko-KR"/>
              <a:t>230 + </a:t>
            </a:r>
            <a:r>
              <a:rPr lang="ko-KR" altLang="en-US"/>
              <a:t>도박</a:t>
            </a:r>
            <a:r>
              <a:rPr lang="en-US" altLang="ko-KR"/>
              <a:t>155 = </a:t>
            </a:r>
            <a:r>
              <a:rPr lang="ko-KR" altLang="en-US"/>
              <a:t>내용</a:t>
            </a:r>
            <a:r>
              <a:rPr lang="en-US" altLang="ko-KR"/>
              <a:t>385. </a:t>
            </a:r>
            <a:r>
              <a:rPr lang="ko-KR" altLang="en-US"/>
              <a:t>원문</a:t>
            </a:r>
            <a:r>
              <a:rPr lang="en-US" altLang="ko-KR"/>
              <a:t>JSON/</a:t>
            </a:r>
            <a:r>
              <a:rPr lang="ko-KR" altLang="en-US"/>
              <a:t>전체</a:t>
            </a:r>
            <a:r>
              <a:rPr lang="en-US" altLang="ko-KR"/>
              <a:t>coverage</a:t>
            </a:r>
            <a:r>
              <a:rPr lang="ko-KR" altLang="en-US"/>
              <a:t>는 미제공입니다</a:t>
            </a:r>
            <a:r>
              <a:rPr lang="en-US" altLang="ko-KR"/>
              <a:t>. 337</a:t>
            </a:r>
            <a:r>
              <a:rPr lang="ko-KR" altLang="en-US"/>
              <a:t>개 검사는 </a:t>
            </a:r>
            <a:r>
              <a:rPr lang="en-US" altLang="ko-KR"/>
              <a:t>release-07 </a:t>
            </a:r>
            <a:r>
              <a:rPr lang="ko-KR" altLang="en-US"/>
              <a:t>단계의 기능 검사 기록이며 </a:t>
            </a:r>
            <a:r>
              <a:rPr lang="en-US" altLang="ko-KR"/>
              <a:t>release-08</a:t>
            </a:r>
            <a:r>
              <a:rPr lang="ko-KR" altLang="en-US"/>
              <a:t>에서 모두 반복한 것은 아닙니다</a:t>
            </a:r>
            <a:r>
              <a:rPr lang="en-US" altLang="ko-KR"/>
              <a:t>. </a:t>
            </a:r>
            <a:r>
              <a:rPr lang="ko-KR" altLang="en-US"/>
              <a:t>이전</a:t>
            </a:r>
            <a:r>
              <a:rPr lang="en-US" altLang="ko-KR"/>
              <a:t>325</a:t>
            </a:r>
            <a:r>
              <a:rPr lang="ko-KR" altLang="en-US"/>
              <a:t>개 실행의</a:t>
            </a:r>
            <a:r>
              <a:rPr lang="en-US" altLang="ko-KR"/>
              <a:t>3</a:t>
            </a:r>
            <a:r>
              <a:rPr lang="ko-KR" altLang="en-US"/>
              <a:t>분</a:t>
            </a:r>
            <a:r>
              <a:rPr lang="en-US" altLang="ko-KR"/>
              <a:t>6</a:t>
            </a:r>
            <a:r>
              <a:rPr lang="ko-KR" altLang="en-US"/>
              <a:t>초나 별도 개발시험</a:t>
            </a:r>
            <a:r>
              <a:rPr lang="en-US" altLang="ko-KR"/>
              <a:t>83.1</a:t>
            </a:r>
            <a:r>
              <a:rPr lang="ko-KR" altLang="en-US"/>
              <a:t>초와 혼합하지 않습니다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제작 근거</a:t>
            </a:r>
            <a:r>
              <a:rPr lang="en-US" altLang="ko-KR"/>
              <a:t>: docs/PPT_CREATION_BRIEF.md</a:t>
            </a:r>
            <a:r>
              <a:rPr lang="ko-KR" altLang="en-US"/>
              <a:t>의 해당 슬라이드</a:t>
            </a:r>
            <a:r>
              <a:rPr lang="en-US" altLang="ko-KR"/>
              <a:t>. </a:t>
            </a:r>
            <a:r>
              <a:rPr lang="ko-KR" altLang="en-US"/>
              <a:t>화면설계</a:t>
            </a:r>
            <a:r>
              <a:rPr lang="en-US" altLang="ko-KR"/>
              <a:t>·DB </a:t>
            </a:r>
            <a:r>
              <a:rPr lang="ko-KR" altLang="en-US"/>
              <a:t>설계와 현재 문서 기준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87082-2F7D-49AA-9D3C-D31FE777F63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67185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정상 행정 문구</a:t>
            </a:r>
            <a:r>
              <a:rPr lang="en-US" altLang="ko-KR"/>
              <a:t>15</a:t>
            </a:r>
            <a:r>
              <a:rPr lang="ko-KR" altLang="en-US"/>
              <a:t>개가 아래아 때문에 검토 대상으로 잡힌 문제와 반복 후보의 검토 부담을 확인했습니다</a:t>
            </a:r>
            <a:r>
              <a:rPr lang="en-US" altLang="ko-KR"/>
              <a:t>. </a:t>
            </a:r>
            <a:r>
              <a:rPr lang="ko-KR" altLang="en-US"/>
              <a:t>현재는 코드 수정을 멈추고 문서 정리 상태이며 이 문제를 해결했다고 말하지 않습니다</a:t>
            </a:r>
            <a:r>
              <a:rPr lang="en-US" altLang="ko-KR"/>
              <a:t>. RAG</a:t>
            </a:r>
            <a:r>
              <a:rPr lang="ko-KR" altLang="en-US"/>
              <a:t>는 관련 사례를 찾아 설명하는 용도로 향후 검토할 수 있지만 지금은 모델</a:t>
            </a:r>
            <a:r>
              <a:rPr lang="en-US" altLang="ko-KR"/>
              <a:t>·</a:t>
            </a:r>
            <a:r>
              <a:rPr lang="ko-KR" altLang="en-US"/>
              <a:t>검색 구조가 미선정이고 구현하지 않았습니다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제작 근거</a:t>
            </a:r>
            <a:r>
              <a:rPr lang="en-US" altLang="ko-KR"/>
              <a:t>: docs/PPT_CREATION_BRIEF.md</a:t>
            </a:r>
            <a:r>
              <a:rPr lang="ko-KR" altLang="en-US"/>
              <a:t>의 해당 슬라이드</a:t>
            </a:r>
            <a:r>
              <a:rPr lang="en-US" altLang="ko-KR"/>
              <a:t>. </a:t>
            </a:r>
            <a:r>
              <a:rPr lang="ko-KR" altLang="en-US"/>
              <a:t>화면설계</a:t>
            </a:r>
            <a:r>
              <a:rPr lang="en-US" altLang="ko-KR"/>
              <a:t>·DB </a:t>
            </a:r>
            <a:r>
              <a:rPr lang="ko-KR" altLang="en-US"/>
              <a:t>설계와 현재 문서 기준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087082-2F7D-49AA-9D3C-D31FE777F63D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16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8E01C6-99FD-7377-E7BC-10BDC5032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BB3B691-E16E-6640-6B2B-4FBFCDF02E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B33F08-181A-9B6C-596D-980D157FF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6B558-741D-47DF-9633-50D9FE7A73F2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1B4425-1863-5CF3-4EAB-49866D9E9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C6E54D-780D-0951-9C08-A4F3F01B4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0847-D08F-4D03-A2C7-0144FA8CFB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9480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1BDA0D-6220-A09E-28A4-AC52AD7B4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BF7D08-FAE5-B195-5D8D-99E450D00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E75D8E-7CA5-C17A-DD72-AAD804BDF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6B558-741D-47DF-9633-50D9FE7A73F2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DBD544-D5EF-26BB-D930-97D7D12F9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4D53C8-A6C2-5270-149C-D08367FA8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0847-D08F-4D03-A2C7-0144FA8CFB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777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57113D-461A-B4D5-1DF4-7899037C3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859CB5-5477-4F0E-5657-B1594EA7D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A2CA9A-FFBE-B441-CB8C-B242B4A02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6B558-741D-47DF-9633-50D9FE7A73F2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D856AD-3364-54BB-0F19-22AC6B075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648E5F-7B94-07F7-F800-BE8A98004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0847-D08F-4D03-A2C7-0144FA8CFB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889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F838DA-BA90-1A03-E02B-5BD0E9C30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FC98FD-8430-3EF3-59C1-187AE4EFCF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F143214-8880-BF77-AEC6-8C374C244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50BDFB-B823-ED36-3583-B9403C56B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6B558-741D-47DF-9633-50D9FE7A73F2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40476E-FF43-822B-681D-633624D43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7A6B34-D651-4B21-E7D2-F1645382E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0847-D08F-4D03-A2C7-0144FA8CFB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659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72A6B4-9A92-9008-01C5-75FE5EFAE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BE7423-BDFF-B117-8AA8-BB737D638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52C125-BBC5-8833-BF41-9F3C39B697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87DBE40-E0A5-CCA2-268F-8119BAFF45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183A669-67D0-6E26-AA67-DF01B3F7D3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695FF6A-3556-DDB7-CAB6-E50CDCA94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6B558-741D-47DF-9633-50D9FE7A73F2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E300558-1B96-DDDD-72CB-1B986CB9C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D395D7B-75F6-5004-602E-7A2FB55B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0847-D08F-4D03-A2C7-0144FA8CFB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86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82A6C9-3F88-6C41-248F-00C0CF363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A18A9A-FF47-2A2E-4021-41F3B705F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6B558-741D-47DF-9633-50D9FE7A73F2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48EFE22-2F38-26D0-8FB2-47AE4577C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2DD26D4-2FD2-DE24-D0B7-B80A063B3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0847-D08F-4D03-A2C7-0144FA8CFB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473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FEE41AE-0667-6F10-B0B4-EE23585D4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6B558-741D-47DF-9633-50D9FE7A73F2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00EFA0B-7C5B-8903-4983-71871D59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604230-ADD3-1F50-0E9E-ADFB08CDF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0847-D08F-4D03-A2C7-0144FA8CFB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3006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19336E-2E37-AF2C-33E9-90A395EFC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601EC9-76DC-2E12-C85C-9E68B6BB7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209B97-78CA-657C-9DC6-32F8A5DCE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521680-5425-B042-4F88-4C50510A6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6B558-741D-47DF-9633-50D9FE7A73F2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E5C65A-02E6-AA59-785E-4FC6D35C8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FB3AF1-8A41-4673-609C-BFDFBA549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0847-D08F-4D03-A2C7-0144FA8CFB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8859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0261B7-47DD-5B49-C4D6-E22293D57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AD4AA2B-805A-4E04-577F-94A1B06518A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1E7F82-DE7A-BCFD-FB6A-8954B8779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A871CC-EF74-51F3-0AFE-1B19C21DF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6B558-741D-47DF-9633-50D9FE7A73F2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81698B-8A11-DD8B-E9D5-EF83FE636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22FCEA-0E0E-86B8-92DE-1BAC0971C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0847-D08F-4D03-A2C7-0144FA8CFB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1483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134912-00DB-EDAB-E9D1-189B90293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C1A6E26-B3A0-CCA3-E477-7AB91D7E3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79285F-C6D6-9527-303C-655365453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6B558-741D-47DF-9633-50D9FE7A73F2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324A2C-87CF-8DA0-7A20-A59B5B704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7AD993-5336-5377-84C0-C73898463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0847-D08F-4D03-A2C7-0144FA8CFB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4704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DA45631-0F2B-5CD5-F338-FEC85E3E31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3E684A-5254-9012-2D86-58AF33E84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504BF6-8C6B-B307-C5CF-81734372B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6B558-741D-47DF-9633-50D9FE7A73F2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50FDFE-3DF8-C5B0-D8F7-48934A37E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9A88C5-28E8-F07D-6EE5-FB84C0418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E0847-D08F-4D03-A2C7-0144FA8CFB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592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CA6DB2E-3A73-B07D-2CDA-328CB9A7A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292CE7-8E3C-C5DB-7DA9-8002DA91E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E5712C-D2CD-0C01-855E-CEC203D27D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6B558-741D-47DF-9633-50D9FE7A73F2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9627BD-6017-F594-970D-948CCC8B5A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1D68B1-356E-3711-A7F8-C60B168E0C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E0847-D08F-4D03-A2C7-0144FA8CFB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45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EB60448-4CDE-70F6-7026-02DBE9A45755}"/>
              </a:ext>
            </a:extLst>
          </p:cNvPr>
          <p:cNvSpPr/>
          <p:nvPr/>
        </p:nvSpPr>
        <p:spPr>
          <a:xfrm>
            <a:off x="9423400" y="0"/>
            <a:ext cx="2768600" cy="6858000"/>
          </a:xfrm>
          <a:prstGeom prst="rect">
            <a:avLst/>
          </a:prstGeom>
          <a:solidFill>
            <a:srgbClr val="193153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3BA4C83-925A-47A6-1EC2-C29ACCF5760C}"/>
              </a:ext>
            </a:extLst>
          </p:cNvPr>
          <p:cNvSpPr/>
          <p:nvPr/>
        </p:nvSpPr>
        <p:spPr>
          <a:xfrm>
            <a:off x="10033000" y="952500"/>
            <a:ext cx="1397000" cy="1397000"/>
          </a:xfrm>
          <a:prstGeom prst="rect">
            <a:avLst/>
          </a:prstGeom>
          <a:solidFill>
            <a:srgbClr val="21416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D0C1431-FCCE-F749-6F22-A1210271D3F9}"/>
              </a:ext>
            </a:extLst>
          </p:cNvPr>
          <p:cNvSpPr/>
          <p:nvPr/>
        </p:nvSpPr>
        <p:spPr>
          <a:xfrm>
            <a:off x="10795000" y="2006600"/>
            <a:ext cx="1397000" cy="13970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3666E4B-6AF1-6116-CD39-B35CE8294E11}"/>
              </a:ext>
            </a:extLst>
          </p:cNvPr>
          <p:cNvSpPr/>
          <p:nvPr/>
        </p:nvSpPr>
        <p:spPr>
          <a:xfrm>
            <a:off x="685800" y="609600"/>
            <a:ext cx="2222500" cy="381000"/>
          </a:xfrm>
          <a:prstGeom prst="roundRect">
            <a:avLst/>
          </a:prstGeom>
          <a:solidFill>
            <a:srgbClr val="233D6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911810-2016-D305-3A91-417775FF7E36}"/>
              </a:ext>
            </a:extLst>
          </p:cNvPr>
          <p:cNvSpPr txBox="1"/>
          <p:nvPr/>
        </p:nvSpPr>
        <p:spPr>
          <a:xfrm>
            <a:off x="787400" y="673099"/>
            <a:ext cx="20193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200" b="1">
                <a:solidFill>
                  <a:srgbClr val="ADCC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기술 발표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40D464-8A83-30FF-6760-165BE424C6C5}"/>
              </a:ext>
            </a:extLst>
          </p:cNvPr>
          <p:cNvSpPr txBox="1"/>
          <p:nvPr/>
        </p:nvSpPr>
        <p:spPr>
          <a:xfrm>
            <a:off x="685800" y="1816099"/>
            <a:ext cx="9652000" cy="184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공공 웹사이트
불법광고 탐지 도구 프로젝트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B002F99-B10B-9055-1B3B-5D23E0400B1B}"/>
              </a:ext>
            </a:extLst>
          </p:cNvPr>
          <p:cNvSpPr/>
          <p:nvPr/>
        </p:nvSpPr>
        <p:spPr>
          <a:xfrm>
            <a:off x="711200" y="3975100"/>
            <a:ext cx="787400" cy="508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976CE0-BC3E-09FF-B49E-078BACB45D93}"/>
              </a:ext>
            </a:extLst>
          </p:cNvPr>
          <p:cNvSpPr txBox="1"/>
          <p:nvPr/>
        </p:nvSpPr>
        <p:spPr>
          <a:xfrm>
            <a:off x="711200" y="4279899"/>
            <a:ext cx="96520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200">
                <a:solidFill>
                  <a:srgbClr val="CAD8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URL </a:t>
            </a:r>
            <a:r>
              <a:rPr lang="ko-KR" altLang="en-US" sz="2200">
                <a:solidFill>
                  <a:srgbClr val="CAD8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탐색 </a:t>
            </a:r>
            <a:r>
              <a:rPr lang="en-US" altLang="ko-KR" sz="2200">
                <a:solidFill>
                  <a:srgbClr val="CAD8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CAD8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위장</a:t>
            </a:r>
            <a:r>
              <a:rPr lang="en-US" altLang="ko-KR" sz="2200">
                <a:solidFill>
                  <a:srgbClr val="CAD8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200">
                <a:solidFill>
                  <a:srgbClr val="CAD8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은닉 특징 분석
원문</a:t>
            </a:r>
            <a:r>
              <a:rPr lang="en-US" altLang="ko-KR" sz="2200">
                <a:solidFill>
                  <a:srgbClr val="CAD8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200">
                <a:solidFill>
                  <a:srgbClr val="CAD8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위치 제공 </a:t>
            </a:r>
            <a:r>
              <a:rPr lang="en-US" altLang="ko-KR" sz="2200">
                <a:solidFill>
                  <a:srgbClr val="CAD8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CAD8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검토 이력 관리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39367C-7977-A38A-F66D-3E0E40FEA8E3}"/>
              </a:ext>
            </a:extLst>
          </p:cNvPr>
          <p:cNvSpPr txBox="1"/>
          <p:nvPr/>
        </p:nvSpPr>
        <p:spPr>
          <a:xfrm>
            <a:off x="711200" y="5905499"/>
            <a:ext cx="9525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>
                <a:solidFill>
                  <a:srgbClr val="ADC1D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400">
                <a:solidFill>
                  <a:srgbClr val="ADC1D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발표자명</a:t>
            </a:r>
            <a:r>
              <a:rPr lang="en-US" altLang="ko-KR" sz="1400">
                <a:solidFill>
                  <a:srgbClr val="ADC1D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  ·  [</a:t>
            </a:r>
            <a:r>
              <a:rPr lang="ko-KR" altLang="en-US" sz="1400">
                <a:solidFill>
                  <a:srgbClr val="ADC1D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소속</a:t>
            </a:r>
            <a:r>
              <a:rPr lang="en-US" altLang="ko-KR" sz="1400">
                <a:solidFill>
                  <a:srgbClr val="ADC1D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  ·  [</a:t>
            </a:r>
            <a:r>
              <a:rPr lang="ko-KR" altLang="en-US" sz="1400">
                <a:solidFill>
                  <a:srgbClr val="ADC1D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발표일</a:t>
            </a:r>
            <a:r>
              <a:rPr lang="en-US" altLang="ko-KR" sz="1400">
                <a:solidFill>
                  <a:srgbClr val="ADC1D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>
              <a:solidFill>
                <a:srgbClr val="ADC1D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4076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A72E188-F7A7-2A7C-DE96-85D4CFA32FA1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9EFBC-7A64-F065-5469-C1C6E421F7E8}"/>
              </a:ext>
            </a:extLst>
          </p:cNvPr>
          <p:cNvSpPr txBox="1"/>
          <p:nvPr/>
        </p:nvSpPr>
        <p:spPr>
          <a:xfrm>
            <a:off x="558800" y="317500"/>
            <a:ext cx="10541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1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  </a:t>
            </a:r>
            <a:r>
              <a:rPr lang="ko-KR" altLang="en-US" sz="11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문제와 범위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717F94-3A92-6A48-4699-DC9867D280E6}"/>
              </a:ext>
            </a:extLst>
          </p:cNvPr>
          <p:cNvSpPr txBox="1"/>
          <p:nvPr/>
        </p:nvSpPr>
        <p:spPr>
          <a:xfrm>
            <a:off x="558800" y="723899"/>
            <a:ext cx="110744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 정의와 개발 목적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EACB73-7720-FCD8-F4F5-9BA7B530EBDD}"/>
              </a:ext>
            </a:extLst>
          </p:cNvPr>
          <p:cNvSpPr txBox="1"/>
          <p:nvPr/>
        </p:nvSpPr>
        <p:spPr>
          <a:xfrm>
            <a:off x="558800" y="1460499"/>
            <a:ext cx="11049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광고 문구 발견에서 끝내지 않고 어떤 페이지</a:t>
            </a:r>
            <a:r>
              <a:rPr lang="en-US" altLang="ko-KR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요소에서 발견했는지 제공해야 합니다</a:t>
            </a:r>
            <a:r>
              <a:rPr lang="en-US" altLang="ko-KR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7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41A32C5-2D55-14B1-184A-72CE6A875964}"/>
              </a:ext>
            </a:extLst>
          </p:cNvPr>
          <p:cNvSpPr/>
          <p:nvPr/>
        </p:nvSpPr>
        <p:spPr>
          <a:xfrm>
            <a:off x="558800" y="6362700"/>
            <a:ext cx="11074400" cy="12700"/>
          </a:xfrm>
          <a:prstGeom prst="rect">
            <a:avLst/>
          </a:prstGeom>
          <a:solidFill>
            <a:srgbClr val="DAE2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61E74C-7BB1-96A3-5709-E07D7614A533}"/>
              </a:ext>
            </a:extLst>
          </p:cNvPr>
          <p:cNvSpPr txBox="1"/>
          <p:nvPr/>
        </p:nvSpPr>
        <p:spPr>
          <a:xfrm>
            <a:off x="558800" y="6527800"/>
            <a:ext cx="10414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공공 웹사이트 불법광고 탐지 도구 프로젝트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C2E86D-2E13-7EF0-0B4D-C31980C8BFC0}"/>
              </a:ext>
            </a:extLst>
          </p:cNvPr>
          <p:cNvSpPr txBox="1"/>
          <p:nvPr/>
        </p:nvSpPr>
        <p:spPr>
          <a:xfrm>
            <a:off x="10998200" y="6477000"/>
            <a:ext cx="635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11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 / 15</a:t>
            </a:r>
            <a:endParaRPr lang="ko-KR" altLang="en-US" sz="11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AA2C57A-26EA-BB24-0148-9D5DF33C9F1D}"/>
              </a:ext>
            </a:extLst>
          </p:cNvPr>
          <p:cNvSpPr/>
          <p:nvPr/>
        </p:nvSpPr>
        <p:spPr>
          <a:xfrm>
            <a:off x="558800" y="2260600"/>
            <a:ext cx="3530600" cy="3390900"/>
          </a:xfrm>
          <a:prstGeom prst="roundRect">
            <a:avLst/>
          </a:prstGeom>
          <a:solidFill>
            <a:srgbClr val="F0F5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4892C9-D120-4CE1-6EAC-A61E3AF700EC}"/>
              </a:ext>
            </a:extLst>
          </p:cNvPr>
          <p:cNvSpPr txBox="1"/>
          <p:nvPr/>
        </p:nvSpPr>
        <p:spPr>
          <a:xfrm>
            <a:off x="787400" y="2451099"/>
            <a:ext cx="3073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 / </a:t>
            </a:r>
            <a:r>
              <a:rPr lang="ko-KR" altLang="en-US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탐색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36E017-268D-DB36-7159-761721DACA7A}"/>
              </a:ext>
            </a:extLst>
          </p:cNvPr>
          <p:cNvSpPr txBox="1"/>
          <p:nvPr/>
        </p:nvSpPr>
        <p:spPr>
          <a:xfrm>
            <a:off x="787400" y="2857499"/>
            <a:ext cx="30734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4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어디에 있는가</a:t>
            </a:r>
            <a:r>
              <a:rPr lang="en-US" altLang="ko-KR" sz="24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2400" b="1">
              <a:solidFill>
                <a:srgbClr val="1325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93474D-DEEF-A80D-6B38-95B8360C0F57}"/>
              </a:ext>
            </a:extLst>
          </p:cNvPr>
          <p:cNvSpPr txBox="1"/>
          <p:nvPr/>
        </p:nvSpPr>
        <p:spPr>
          <a:xfrm>
            <a:off x="787400" y="3682999"/>
            <a:ext cx="3073400" cy="184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게시판</a:t>
            </a:r>
            <a:r>
              <a:rPr lang="en-US" altLang="ko-KR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댓글</a:t>
            </a:r>
            <a:r>
              <a:rPr lang="en-US" altLang="ko-KR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·iframe</a:t>
            </a:r>
            <a:r>
              <a:rPr lang="ko-KR" altLang="en-US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
흩어진 공개 콘텐츠
하위 링크를 따라 탐색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26A36E1-F4AB-1534-DB0D-A346ED210A4F}"/>
              </a:ext>
            </a:extLst>
          </p:cNvPr>
          <p:cNvSpPr/>
          <p:nvPr/>
        </p:nvSpPr>
        <p:spPr>
          <a:xfrm>
            <a:off x="4330700" y="2260600"/>
            <a:ext cx="3530600" cy="3390900"/>
          </a:xfrm>
          <a:prstGeom prst="roundRect">
            <a:avLst/>
          </a:prstGeom>
          <a:solidFill>
            <a:srgbClr val="F0F5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243278-0124-04B5-69B7-38A4FE0CDBB4}"/>
              </a:ext>
            </a:extLst>
          </p:cNvPr>
          <p:cNvSpPr txBox="1"/>
          <p:nvPr/>
        </p:nvSpPr>
        <p:spPr>
          <a:xfrm>
            <a:off x="4559300" y="2451099"/>
            <a:ext cx="3073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 / </a:t>
            </a:r>
            <a:r>
              <a:rPr lang="ko-KR" altLang="en-US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0DDC5B-2DFF-E167-DDE8-3DCAC18FF07E}"/>
              </a:ext>
            </a:extLst>
          </p:cNvPr>
          <p:cNvSpPr txBox="1"/>
          <p:nvPr/>
        </p:nvSpPr>
        <p:spPr>
          <a:xfrm>
            <a:off x="4559300" y="2857499"/>
            <a:ext cx="30734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4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어떻게 표현됐는가</a:t>
            </a:r>
            <a:r>
              <a:rPr lang="en-US" altLang="ko-KR" sz="24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2400" b="1">
              <a:solidFill>
                <a:srgbClr val="1325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B156C7-42E1-ECBB-93D2-C1318EC6B397}"/>
              </a:ext>
            </a:extLst>
          </p:cNvPr>
          <p:cNvSpPr txBox="1"/>
          <p:nvPr/>
        </p:nvSpPr>
        <p:spPr>
          <a:xfrm>
            <a:off x="4559300" y="3682999"/>
            <a:ext cx="3073400" cy="184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닮은꼴 문자</a:t>
            </a:r>
            <a:r>
              <a:rPr lang="en-US" altLang="ko-KR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분리 자모
투명 스타일</a:t>
            </a:r>
            <a:r>
              <a:rPr lang="en-US" altLang="ko-KR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숨김 배치
특징과 홍보 문맥 구분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DF9ABCD-00CC-CF9E-67D9-2640FC6DEA4F}"/>
              </a:ext>
            </a:extLst>
          </p:cNvPr>
          <p:cNvSpPr/>
          <p:nvPr/>
        </p:nvSpPr>
        <p:spPr>
          <a:xfrm>
            <a:off x="8102600" y="2260600"/>
            <a:ext cx="3530600" cy="3390900"/>
          </a:xfrm>
          <a:prstGeom prst="roundRect">
            <a:avLst/>
          </a:prstGeom>
          <a:solidFill>
            <a:srgbClr val="F0F5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2B73A3-9279-69F3-0630-FE3EF8CB5BE9}"/>
              </a:ext>
            </a:extLst>
          </p:cNvPr>
          <p:cNvSpPr txBox="1"/>
          <p:nvPr/>
        </p:nvSpPr>
        <p:spPr>
          <a:xfrm>
            <a:off x="8331200" y="2451099"/>
            <a:ext cx="3073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 / </a:t>
            </a:r>
            <a:r>
              <a:rPr lang="ko-KR" altLang="en-US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근거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D0818F-034E-2392-D3E3-8B354D421E02}"/>
              </a:ext>
            </a:extLst>
          </p:cNvPr>
          <p:cNvSpPr txBox="1"/>
          <p:nvPr/>
        </p:nvSpPr>
        <p:spPr>
          <a:xfrm>
            <a:off x="8331200" y="2857499"/>
            <a:ext cx="30734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4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무엇을 확인할까</a:t>
            </a:r>
            <a:r>
              <a:rPr lang="en-US" altLang="ko-KR" sz="24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2400" b="1">
              <a:solidFill>
                <a:srgbClr val="1325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AC6919-BF8F-0045-6CA2-935AFF0C26D6}"/>
              </a:ext>
            </a:extLst>
          </p:cNvPr>
          <p:cNvSpPr txBox="1"/>
          <p:nvPr/>
        </p:nvSpPr>
        <p:spPr>
          <a:xfrm>
            <a:off x="8331200" y="3682999"/>
            <a:ext cx="3073400" cy="184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원문</a:t>
            </a:r>
            <a:r>
              <a:rPr lang="en-US" altLang="ko-KR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페이지</a:t>
            </a:r>
            <a:r>
              <a:rPr lang="en-US" altLang="ko-KR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요소 위치
실제 분석 범위
사람이 다시 확인할 근거</a:t>
            </a:r>
          </a:p>
        </p:txBody>
      </p:sp>
    </p:spTree>
    <p:extLst>
      <p:ext uri="{BB962C8B-B14F-4D97-AF65-F5344CB8AC3E}">
        <p14:creationId xmlns:p14="http://schemas.microsoft.com/office/powerpoint/2010/main" val="901897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5DD1C1E-F726-53EB-F3AD-07FC61E48830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CAFFAD-1BD4-A2CE-12BA-8361546269A0}"/>
              </a:ext>
            </a:extLst>
          </p:cNvPr>
          <p:cNvSpPr txBox="1"/>
          <p:nvPr/>
        </p:nvSpPr>
        <p:spPr>
          <a:xfrm>
            <a:off x="558800" y="317500"/>
            <a:ext cx="10541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1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  </a:t>
            </a:r>
            <a:r>
              <a:rPr lang="ko-KR" altLang="en-US" sz="11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문제와 범위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0496C5-2B37-9438-CD96-AC5B32D75951}"/>
              </a:ext>
            </a:extLst>
          </p:cNvPr>
          <p:cNvSpPr txBox="1"/>
          <p:nvPr/>
        </p:nvSpPr>
        <p:spPr>
          <a:xfrm>
            <a:off x="558800" y="723899"/>
            <a:ext cx="110744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범위와 제공 형태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56230B-BE33-3318-A2BB-D9B292312B9B}"/>
              </a:ext>
            </a:extLst>
          </p:cNvPr>
          <p:cNvSpPr txBox="1"/>
          <p:nvPr/>
        </p:nvSpPr>
        <p:spPr>
          <a:xfrm>
            <a:off x="558800" y="1460499"/>
            <a:ext cx="11049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</a:t>
            </a:r>
            <a:r>
              <a:rPr lang="en-US" altLang="ko-KR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 </a:t>
            </a:r>
            <a:r>
              <a:rPr lang="ko-KR" altLang="en-US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안에서 분석과 기록 관리를 수행합니다</a:t>
            </a:r>
            <a:r>
              <a:rPr lang="en-US" altLang="ko-KR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7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DA076C1-E712-3578-4F27-ACBAC1A2124D}"/>
              </a:ext>
            </a:extLst>
          </p:cNvPr>
          <p:cNvSpPr/>
          <p:nvPr/>
        </p:nvSpPr>
        <p:spPr>
          <a:xfrm>
            <a:off x="558800" y="6362700"/>
            <a:ext cx="11074400" cy="12700"/>
          </a:xfrm>
          <a:prstGeom prst="rect">
            <a:avLst/>
          </a:prstGeom>
          <a:solidFill>
            <a:srgbClr val="DAE2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AED473-DB4C-5753-1795-1FAAB71EC583}"/>
              </a:ext>
            </a:extLst>
          </p:cNvPr>
          <p:cNvSpPr txBox="1"/>
          <p:nvPr/>
        </p:nvSpPr>
        <p:spPr>
          <a:xfrm>
            <a:off x="558800" y="6527800"/>
            <a:ext cx="10414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공공 웹사이트 불법광고 탐지 도구 프로젝트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A2606E-3004-23C4-89A8-90F39B31574C}"/>
              </a:ext>
            </a:extLst>
          </p:cNvPr>
          <p:cNvSpPr txBox="1"/>
          <p:nvPr/>
        </p:nvSpPr>
        <p:spPr>
          <a:xfrm>
            <a:off x="10998200" y="6477000"/>
            <a:ext cx="635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11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 / 15</a:t>
            </a:r>
            <a:endParaRPr lang="ko-KR" altLang="en-US" sz="11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50D77BE-D0CD-FEBF-3EA1-5C915AA4DCF1}"/>
              </a:ext>
            </a:extLst>
          </p:cNvPr>
          <p:cNvSpPr/>
          <p:nvPr/>
        </p:nvSpPr>
        <p:spPr>
          <a:xfrm>
            <a:off x="558800" y="2260600"/>
            <a:ext cx="8229600" cy="336550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AE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D27DA1D-1DEE-7E02-543A-1F264EF0ACA6}"/>
              </a:ext>
            </a:extLst>
          </p:cNvPr>
          <p:cNvSpPr/>
          <p:nvPr/>
        </p:nvSpPr>
        <p:spPr>
          <a:xfrm>
            <a:off x="787400" y="2463800"/>
            <a:ext cx="1397000" cy="381000"/>
          </a:xfrm>
          <a:prstGeom prst="roundRect">
            <a:avLst/>
          </a:prstGeom>
          <a:solidFill>
            <a:srgbClr val="F0F5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F554F7-3911-D36F-C1CE-F85ED6EA7B1A}"/>
              </a:ext>
            </a:extLst>
          </p:cNvPr>
          <p:cNvSpPr txBox="1"/>
          <p:nvPr/>
        </p:nvSpPr>
        <p:spPr>
          <a:xfrm>
            <a:off x="889000" y="2527299"/>
            <a:ext cx="1193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</a:t>
            </a:r>
            <a:r>
              <a:rPr lang="en-US" altLang="ko-KR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endParaRPr lang="ko-KR" altLang="en-US" sz="1200" b="1">
              <a:solidFill>
                <a:srgbClr val="2563E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06092FC-5A84-D364-19EE-D6EF0EDBFD55}"/>
              </a:ext>
            </a:extLst>
          </p:cNvPr>
          <p:cNvSpPr/>
          <p:nvPr/>
        </p:nvSpPr>
        <p:spPr>
          <a:xfrm>
            <a:off x="838200" y="3149600"/>
            <a:ext cx="2159000" cy="118110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AE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D9F636-E83E-FE36-9A80-BAF13EC82249}"/>
              </a:ext>
            </a:extLst>
          </p:cNvPr>
          <p:cNvSpPr txBox="1"/>
          <p:nvPr/>
        </p:nvSpPr>
        <p:spPr>
          <a:xfrm>
            <a:off x="965200" y="3301999"/>
            <a:ext cx="19050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9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파일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088C2E-8B60-16F3-D966-3900A4AAF2E6}"/>
              </a:ext>
            </a:extLst>
          </p:cNvPr>
          <p:cNvSpPr txBox="1"/>
          <p:nvPr/>
        </p:nvSpPr>
        <p:spPr>
          <a:xfrm>
            <a:off x="965200" y="3746499"/>
            <a:ext cx="19050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로컬 서버 시작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270581F6-9055-26A0-BAC7-9405C25E9CCF}"/>
              </a:ext>
            </a:extLst>
          </p:cNvPr>
          <p:cNvCxnSpPr/>
          <p:nvPr/>
        </p:nvCxnSpPr>
        <p:spPr>
          <a:xfrm>
            <a:off x="3073400" y="3746500"/>
            <a:ext cx="292100" cy="0"/>
          </a:xfrm>
          <a:prstGeom prst="line">
            <a:avLst/>
          </a:prstGeom>
          <a:ln w="25400">
            <a:solidFill>
              <a:srgbClr val="2563E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91F326D-6EC2-F706-2B90-747B5DAE7B79}"/>
              </a:ext>
            </a:extLst>
          </p:cNvPr>
          <p:cNvSpPr/>
          <p:nvPr/>
        </p:nvSpPr>
        <p:spPr>
          <a:xfrm>
            <a:off x="3429000" y="3149600"/>
            <a:ext cx="2159000" cy="118110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AE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A9DBE5-4E41-AD38-659F-4AB3C644E536}"/>
              </a:ext>
            </a:extLst>
          </p:cNvPr>
          <p:cNvSpPr txBox="1"/>
          <p:nvPr/>
        </p:nvSpPr>
        <p:spPr>
          <a:xfrm>
            <a:off x="3556000" y="3301999"/>
            <a:ext cx="19050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9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서버 </a:t>
            </a:r>
            <a:r>
              <a:rPr lang="en-US" altLang="ko-KR" sz="19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19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웹 </a:t>
            </a:r>
            <a:r>
              <a:rPr lang="en-US" altLang="ko-KR" sz="19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UI</a:t>
            </a:r>
            <a:endParaRPr lang="ko-KR" altLang="en-US" sz="1900" b="1">
              <a:solidFill>
                <a:srgbClr val="1325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EDEF2B-319D-88B5-E188-F4422508FAFB}"/>
              </a:ext>
            </a:extLst>
          </p:cNvPr>
          <p:cNvSpPr txBox="1"/>
          <p:nvPr/>
        </p:nvSpPr>
        <p:spPr>
          <a:xfrm>
            <a:off x="3556000" y="3746499"/>
            <a:ext cx="19050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</a:t>
            </a:r>
            <a:r>
              <a:rPr lang="en-US" altLang="ko-KR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</a:t>
            </a:r>
            <a:r>
              <a:rPr lang="en-US" altLang="ko-KR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</a:t>
            </a:r>
            <a:r>
              <a:rPr lang="en-US" altLang="ko-KR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검토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D968770-CD66-5A7D-34D6-BF29A275F3CB}"/>
              </a:ext>
            </a:extLst>
          </p:cNvPr>
          <p:cNvCxnSpPr/>
          <p:nvPr/>
        </p:nvCxnSpPr>
        <p:spPr>
          <a:xfrm>
            <a:off x="5664200" y="3746500"/>
            <a:ext cx="292100" cy="0"/>
          </a:xfrm>
          <a:prstGeom prst="line">
            <a:avLst/>
          </a:prstGeom>
          <a:ln w="25400">
            <a:solidFill>
              <a:srgbClr val="2563E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EAC247D-5981-E0E5-D20F-D82EC4D444C2}"/>
              </a:ext>
            </a:extLst>
          </p:cNvPr>
          <p:cNvSpPr/>
          <p:nvPr/>
        </p:nvSpPr>
        <p:spPr>
          <a:xfrm>
            <a:off x="6019800" y="3149600"/>
            <a:ext cx="2463800" cy="118110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AE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9F0C6C-65E5-63E8-E431-089402136DBD}"/>
              </a:ext>
            </a:extLst>
          </p:cNvPr>
          <p:cNvSpPr txBox="1"/>
          <p:nvPr/>
        </p:nvSpPr>
        <p:spPr>
          <a:xfrm>
            <a:off x="6146800" y="3301999"/>
            <a:ext cx="2209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9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</a:t>
            </a:r>
            <a:r>
              <a:rPr lang="en-US" altLang="ko-KR" sz="19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SQLite</a:t>
            </a:r>
            <a:endParaRPr lang="ko-KR" altLang="en-US" sz="1900" b="1">
              <a:solidFill>
                <a:srgbClr val="1325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AD090D-9667-8582-53AC-036FCA138773}"/>
              </a:ext>
            </a:extLst>
          </p:cNvPr>
          <p:cNvSpPr txBox="1"/>
          <p:nvPr/>
        </p:nvSpPr>
        <p:spPr>
          <a:xfrm>
            <a:off x="6146800" y="3746499"/>
            <a:ext cx="2209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</a:t>
            </a:r>
            <a:r>
              <a:rPr lang="en-US" altLang="ko-KR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이력</a:t>
            </a:r>
            <a:r>
              <a:rPr lang="en-US" altLang="ko-KR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판단 근거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7539F9-B46C-639A-BA27-83428E92C2DF}"/>
              </a:ext>
            </a:extLst>
          </p:cNvPr>
          <p:cNvSpPr txBox="1"/>
          <p:nvPr/>
        </p:nvSpPr>
        <p:spPr>
          <a:xfrm>
            <a:off x="838200" y="4749799"/>
            <a:ext cx="75565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 </a:t>
            </a:r>
            <a:r>
              <a:rPr lang="en-US" altLang="ko-KR" sz="2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API·</a:t>
            </a:r>
            <a:r>
              <a:rPr lang="ko-KR" altLang="en-US" sz="2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 모델</a:t>
            </a:r>
            <a:r>
              <a:rPr lang="en-US" altLang="ko-KR" sz="2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·RAG </a:t>
            </a:r>
            <a:r>
              <a:rPr lang="ko-KR" altLang="en-US" sz="2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없이 동작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0A93A4BA-2BCF-2E2D-AB1E-B0A3F3F7C655}"/>
              </a:ext>
            </a:extLst>
          </p:cNvPr>
          <p:cNvSpPr/>
          <p:nvPr/>
        </p:nvSpPr>
        <p:spPr>
          <a:xfrm>
            <a:off x="9334500" y="3149600"/>
            <a:ext cx="2298700" cy="118110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AE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7F2779-C1FD-98BE-303B-83155B844B34}"/>
              </a:ext>
            </a:extLst>
          </p:cNvPr>
          <p:cNvSpPr txBox="1"/>
          <p:nvPr/>
        </p:nvSpPr>
        <p:spPr>
          <a:xfrm>
            <a:off x="9461500" y="3301999"/>
            <a:ext cx="20447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9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공공 웹사이트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6B1146-257F-55AC-066B-F0DDBA12F16F}"/>
              </a:ext>
            </a:extLst>
          </p:cNvPr>
          <p:cNvSpPr txBox="1"/>
          <p:nvPr/>
        </p:nvSpPr>
        <p:spPr>
          <a:xfrm>
            <a:off x="9461500" y="3746499"/>
            <a:ext cx="20447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공개 </a:t>
            </a:r>
            <a:r>
              <a:rPr lang="en-US" altLang="ko-KR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HTTP(S) </a:t>
            </a:r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페이지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1D64A337-5860-CEA7-FD83-972988AF903C}"/>
              </a:ext>
            </a:extLst>
          </p:cNvPr>
          <p:cNvCxnSpPr/>
          <p:nvPr/>
        </p:nvCxnSpPr>
        <p:spPr>
          <a:xfrm>
            <a:off x="8813800" y="3556000"/>
            <a:ext cx="431800" cy="0"/>
          </a:xfrm>
          <a:prstGeom prst="line">
            <a:avLst/>
          </a:prstGeom>
          <a:ln w="25400">
            <a:solidFill>
              <a:srgbClr val="2563E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C1134DA-D3DC-AEC2-EB48-C7578E23E3E4}"/>
              </a:ext>
            </a:extLst>
          </p:cNvPr>
          <p:cNvSpPr txBox="1"/>
          <p:nvPr/>
        </p:nvSpPr>
        <p:spPr>
          <a:xfrm>
            <a:off x="8978900" y="4356099"/>
            <a:ext cx="2603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4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 연결은
대상 페이지 수집에 사용</a:t>
            </a:r>
          </a:p>
        </p:txBody>
      </p:sp>
    </p:spTree>
    <p:extLst>
      <p:ext uri="{BB962C8B-B14F-4D97-AF65-F5344CB8AC3E}">
        <p14:creationId xmlns:p14="http://schemas.microsoft.com/office/powerpoint/2010/main" val="2271778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E0941D5-5005-E9BF-C857-7D0793EA0581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C6BDAA-E507-87AC-C836-A5A6F165D1D4}"/>
              </a:ext>
            </a:extLst>
          </p:cNvPr>
          <p:cNvSpPr txBox="1"/>
          <p:nvPr/>
        </p:nvSpPr>
        <p:spPr>
          <a:xfrm>
            <a:off x="558800" y="317500"/>
            <a:ext cx="10541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1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  </a:t>
            </a:r>
            <a:r>
              <a:rPr lang="ko-KR" altLang="en-US" sz="11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명세와 설계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A57D76-028F-1260-951A-CAF2F6BF0A0E}"/>
              </a:ext>
            </a:extLst>
          </p:cNvPr>
          <p:cNvSpPr txBox="1"/>
          <p:nvPr/>
        </p:nvSpPr>
        <p:spPr>
          <a:xfrm>
            <a:off x="558800" y="723899"/>
            <a:ext cx="110744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 기능 명세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BD6F42-BED7-2290-A19B-9D1915B75C48}"/>
              </a:ext>
            </a:extLst>
          </p:cNvPr>
          <p:cNvSpPr txBox="1"/>
          <p:nvPr/>
        </p:nvSpPr>
        <p:spPr>
          <a:xfrm>
            <a:off x="558800" y="1460499"/>
            <a:ext cx="11049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입력과 처리 결과</a:t>
            </a:r>
            <a:r>
              <a:rPr lang="en-US" altLang="ko-KR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예외 동작을 연결해 기능을 정의했습니다</a:t>
            </a:r>
            <a:r>
              <a:rPr lang="en-US" altLang="ko-KR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7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27BD395-67EA-220C-D692-A84A3E3A4ABD}"/>
              </a:ext>
            </a:extLst>
          </p:cNvPr>
          <p:cNvSpPr/>
          <p:nvPr/>
        </p:nvSpPr>
        <p:spPr>
          <a:xfrm>
            <a:off x="558800" y="6362700"/>
            <a:ext cx="11074400" cy="12700"/>
          </a:xfrm>
          <a:prstGeom prst="rect">
            <a:avLst/>
          </a:prstGeom>
          <a:solidFill>
            <a:srgbClr val="DAE2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6ADD45-B15B-EFBD-1F31-849878FEA25A}"/>
              </a:ext>
            </a:extLst>
          </p:cNvPr>
          <p:cNvSpPr txBox="1"/>
          <p:nvPr/>
        </p:nvSpPr>
        <p:spPr>
          <a:xfrm>
            <a:off x="558800" y="6527800"/>
            <a:ext cx="10414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공공 웹사이트 불법광고 탐지 도구 프로젝트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0FF50A-6D85-9DB5-F50D-5A3FBD2570C3}"/>
              </a:ext>
            </a:extLst>
          </p:cNvPr>
          <p:cNvSpPr txBox="1"/>
          <p:nvPr/>
        </p:nvSpPr>
        <p:spPr>
          <a:xfrm>
            <a:off x="10998200" y="6477000"/>
            <a:ext cx="635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11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 / 15</a:t>
            </a:r>
            <a:endParaRPr lang="ko-KR" altLang="en-US" sz="11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0F5A2C1E-39F3-8524-8D4E-E5EA1A6B9C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377543"/>
              </p:ext>
            </p:extLst>
          </p:nvPr>
        </p:nvGraphicFramePr>
        <p:xfrm>
          <a:off x="558800" y="2273300"/>
          <a:ext cx="11074400" cy="3289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2648">
                  <a:extLst>
                    <a:ext uri="{9D8B030D-6E8A-4147-A177-3AD203B41FA5}">
                      <a16:colId xmlns:a16="http://schemas.microsoft.com/office/drawing/2014/main" val="937000464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2364992521"/>
                    </a:ext>
                  </a:extLst>
                </a:gridCol>
                <a:gridCol w="3543808">
                  <a:extLst>
                    <a:ext uri="{9D8B030D-6E8A-4147-A177-3AD203B41FA5}">
                      <a16:colId xmlns:a16="http://schemas.microsoft.com/office/drawing/2014/main" val="3748838090"/>
                    </a:ext>
                  </a:extLst>
                </a:gridCol>
                <a:gridCol w="2879344">
                  <a:extLst>
                    <a:ext uri="{9D8B030D-6E8A-4147-A177-3AD203B41FA5}">
                      <a16:colId xmlns:a16="http://schemas.microsoft.com/office/drawing/2014/main" val="2855827624"/>
                    </a:ext>
                  </a:extLst>
                </a:gridCol>
              </a:tblGrid>
              <a:tr h="6578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marL="152400" marR="127000" marT="101600" marB="76200" anchor="ctr">
                    <a:solidFill>
                      <a:srgbClr val="13254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</a:t>
                      </a:r>
                    </a:p>
                  </a:txBody>
                  <a:tcPr marL="152400" marR="127000" marT="101600" marB="76200" anchor="ctr">
                    <a:solidFill>
                      <a:srgbClr val="13254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 처리</a:t>
                      </a:r>
                    </a:p>
                  </a:txBody>
                  <a:tcPr marL="152400" marR="127000" marT="101600" marB="76200" anchor="ctr">
                    <a:solidFill>
                      <a:srgbClr val="13254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출력</a:t>
                      </a:r>
                    </a:p>
                  </a:txBody>
                  <a:tcPr marL="152400" marR="127000" marT="101600" marB="76200" anchor="ctr">
                    <a:solidFill>
                      <a:srgbClr val="1325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150164"/>
                  </a:ext>
                </a:extLst>
              </a:tr>
              <a:tr h="6578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분석 시작</a:t>
                      </a:r>
                    </a:p>
                  </a:txBody>
                  <a:tcPr marL="152400" marR="127000" marT="101600" marB="7620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URL·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모드</a:t>
                      </a:r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한도</a:t>
                      </a:r>
                    </a:p>
                  </a:txBody>
                  <a:tcPr marL="152400" marR="127000" marT="101600" marB="7620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검증</a:t>
                      </a:r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 생성</a:t>
                      </a:r>
                    </a:p>
                  </a:txBody>
                  <a:tcPr marL="152400" marR="127000" marT="101600" marB="7620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 </a:t>
                      </a:r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ID·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</a:t>
                      </a:r>
                    </a:p>
                  </a:txBody>
                  <a:tcPr marL="152400" marR="127000" marT="101600" marB="76200" anchor="ctr"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347733"/>
                  </a:ext>
                </a:extLst>
              </a:tr>
              <a:tr h="6578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특징</a:t>
                      </a:r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 분석</a:t>
                      </a:r>
                    </a:p>
                  </a:txBody>
                  <a:tcPr marL="152400" marR="127000" marT="1016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HTML·DOM·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스타일</a:t>
                      </a:r>
                    </a:p>
                  </a:txBody>
                  <a:tcPr marL="152400" marR="127000" marT="1016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</a:t>
                      </a:r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홍보</a:t>
                      </a:r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제출 구분</a:t>
                      </a:r>
                    </a:p>
                  </a:txBody>
                  <a:tcPr marL="152400" marR="127000" marT="1016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원문</a:t>
                      </a:r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</a:t>
                      </a:r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후보</a:t>
                      </a:r>
                    </a:p>
                  </a:txBody>
                  <a:tcPr marL="152400" marR="127000" marT="1016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76051"/>
                  </a:ext>
                </a:extLst>
              </a:tr>
              <a:tr h="6578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중단</a:t>
                      </a:r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 확인</a:t>
                      </a:r>
                    </a:p>
                  </a:txBody>
                  <a:tcPr marL="152400" marR="127000" marT="101600" marB="7620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 </a:t>
                      </a:r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ID·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중단 요청</a:t>
                      </a:r>
                    </a:p>
                  </a:txBody>
                  <a:tcPr marL="152400" marR="127000" marT="101600" marB="7620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 문서 보존</a:t>
                      </a:r>
                    </a:p>
                  </a:txBody>
                  <a:tcPr marL="152400" marR="127000" marT="101600" marB="7620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부분 결과</a:t>
                      </a:r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안내</a:t>
                      </a:r>
                    </a:p>
                  </a:txBody>
                  <a:tcPr marL="152400" marR="127000" marT="101600" marB="76200" anchor="ctr"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022859"/>
                  </a:ext>
                </a:extLst>
              </a:tr>
              <a:tr h="6578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후보 검토</a:t>
                      </a:r>
                    </a:p>
                  </a:txBody>
                  <a:tcPr marL="152400" marR="127000" marT="1016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판단</a:t>
                      </a:r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검토자</a:t>
                      </a:r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이유</a:t>
                      </a:r>
                    </a:p>
                  </a:txBody>
                  <a:tcPr marL="152400" marR="127000" marT="1016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확인</a:t>
                      </a:r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기록 추가</a:t>
                      </a:r>
                    </a:p>
                  </a:txBody>
                  <a:tcPr marL="152400" marR="127000" marT="1016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누적 검토 이력</a:t>
                      </a:r>
                    </a:p>
                  </a:txBody>
                  <a:tcPr marL="152400" marR="127000" marT="1016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087362"/>
                  </a:ext>
                </a:extLst>
              </a:tr>
            </a:tbl>
          </a:graphicData>
        </a:graphic>
      </p:graphicFrame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54865EC-9A5B-690C-3492-39CA279B9A90}"/>
              </a:ext>
            </a:extLst>
          </p:cNvPr>
          <p:cNvSpPr/>
          <p:nvPr/>
        </p:nvSpPr>
        <p:spPr>
          <a:xfrm>
            <a:off x="558800" y="5791200"/>
            <a:ext cx="11074400" cy="381000"/>
          </a:xfrm>
          <a:prstGeom prst="roundRect">
            <a:avLst/>
          </a:prstGeom>
          <a:solidFill>
            <a:srgbClr val="F0F5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ADFC33-24A6-4587-F705-46C84E759BFD}"/>
              </a:ext>
            </a:extLst>
          </p:cNvPr>
          <p:cNvSpPr txBox="1"/>
          <p:nvPr/>
        </p:nvSpPr>
        <p:spPr>
          <a:xfrm>
            <a:off x="660400" y="5854699"/>
            <a:ext cx="108712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예외 설계</a:t>
            </a:r>
            <a:r>
              <a:rPr lang="en-US" altLang="ko-KR" sz="1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 오류 </a:t>
            </a:r>
            <a:r>
              <a:rPr lang="en-US" altLang="ko-KR" sz="1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수집 실패 </a:t>
            </a:r>
            <a:r>
              <a:rPr lang="en-US" altLang="ko-KR" sz="1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</a:t>
            </a:r>
            <a:r>
              <a:rPr lang="en-US" altLang="ko-KR" sz="1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1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 </a:t>
            </a:r>
            <a:r>
              <a:rPr lang="en-US" altLang="ko-KR" sz="1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부분 완료를 구분</a:t>
            </a:r>
          </a:p>
        </p:txBody>
      </p:sp>
    </p:spTree>
    <p:extLst>
      <p:ext uri="{BB962C8B-B14F-4D97-AF65-F5344CB8AC3E}">
        <p14:creationId xmlns:p14="http://schemas.microsoft.com/office/powerpoint/2010/main" val="2134294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46F7160-5A0D-1D9D-DA5C-6FEC0F5C4FCD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9F4844-0891-F66C-4955-6ADD6AA8AE1D}"/>
              </a:ext>
            </a:extLst>
          </p:cNvPr>
          <p:cNvSpPr txBox="1"/>
          <p:nvPr/>
        </p:nvSpPr>
        <p:spPr>
          <a:xfrm>
            <a:off x="558800" y="317500"/>
            <a:ext cx="10541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1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  </a:t>
            </a:r>
            <a:r>
              <a:rPr lang="ko-KR" altLang="en-US" sz="11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명세와 설계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72242A-EE39-590F-424A-C5291B1E33DD}"/>
              </a:ext>
            </a:extLst>
          </p:cNvPr>
          <p:cNvSpPr txBox="1"/>
          <p:nvPr/>
        </p:nvSpPr>
        <p:spPr>
          <a:xfrm>
            <a:off x="558800" y="723899"/>
            <a:ext cx="110744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시스템 아키텍처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4BFB6-47E0-EF3E-8F3C-E3C267A2EF62}"/>
              </a:ext>
            </a:extLst>
          </p:cNvPr>
          <p:cNvSpPr txBox="1"/>
          <p:nvPr/>
        </p:nvSpPr>
        <p:spPr>
          <a:xfrm>
            <a:off x="558800" y="1460499"/>
            <a:ext cx="11049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수집</a:t>
            </a:r>
            <a:r>
              <a:rPr lang="en-US" altLang="ko-KR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탐지</a:t>
            </a:r>
            <a:r>
              <a:rPr lang="en-US" altLang="ko-KR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 변환</a:t>
            </a:r>
            <a:r>
              <a:rPr lang="en-US" altLang="ko-KR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기록 저장을 역할별로 나눴습니다</a:t>
            </a:r>
            <a:r>
              <a:rPr lang="en-US" altLang="ko-KR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7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EB978D7-CB7E-DAE0-D1EB-F4E6840D1F5A}"/>
              </a:ext>
            </a:extLst>
          </p:cNvPr>
          <p:cNvSpPr/>
          <p:nvPr/>
        </p:nvSpPr>
        <p:spPr>
          <a:xfrm>
            <a:off x="558800" y="6362700"/>
            <a:ext cx="11074400" cy="12700"/>
          </a:xfrm>
          <a:prstGeom prst="rect">
            <a:avLst/>
          </a:prstGeom>
          <a:solidFill>
            <a:srgbClr val="DAE2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6A273A-B9DD-A044-9247-2B6265DF99DD}"/>
              </a:ext>
            </a:extLst>
          </p:cNvPr>
          <p:cNvSpPr txBox="1"/>
          <p:nvPr/>
        </p:nvSpPr>
        <p:spPr>
          <a:xfrm>
            <a:off x="558800" y="6527800"/>
            <a:ext cx="10414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공공 웹사이트 불법광고 탐지 도구 프로젝트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18CBAF-23B2-2C47-6821-6FF98E79F1B0}"/>
              </a:ext>
            </a:extLst>
          </p:cNvPr>
          <p:cNvSpPr txBox="1"/>
          <p:nvPr/>
        </p:nvSpPr>
        <p:spPr>
          <a:xfrm>
            <a:off x="10998200" y="6477000"/>
            <a:ext cx="635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11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 / 15</a:t>
            </a:r>
            <a:endParaRPr lang="ko-KR" altLang="en-US" sz="11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A2C7ECD-5B2F-E11B-5C45-7EE18D2D6CE3}"/>
              </a:ext>
            </a:extLst>
          </p:cNvPr>
          <p:cNvSpPr/>
          <p:nvPr/>
        </p:nvSpPr>
        <p:spPr>
          <a:xfrm>
            <a:off x="558800" y="2209800"/>
            <a:ext cx="2413000" cy="110490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AE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7DA6F6-B234-4CB8-9512-702F7DDA6CA9}"/>
              </a:ext>
            </a:extLst>
          </p:cNvPr>
          <p:cNvSpPr txBox="1"/>
          <p:nvPr/>
        </p:nvSpPr>
        <p:spPr>
          <a:xfrm>
            <a:off x="685800" y="2362199"/>
            <a:ext cx="21590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9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브라우저 </a:t>
            </a:r>
            <a:r>
              <a:rPr lang="en-US" altLang="ko-KR" sz="19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UI</a:t>
            </a:r>
            <a:endParaRPr lang="ko-KR" altLang="en-US" sz="1900" b="1">
              <a:solidFill>
                <a:srgbClr val="1325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DD080D-B026-1C26-857B-D2B58C438C26}"/>
              </a:ext>
            </a:extLst>
          </p:cNvPr>
          <p:cNvSpPr txBox="1"/>
          <p:nvPr/>
        </p:nvSpPr>
        <p:spPr>
          <a:xfrm>
            <a:off x="685800" y="2806699"/>
            <a:ext cx="21590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</a:t>
            </a:r>
            <a:r>
              <a:rPr lang="en-US" altLang="ko-KR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상태</a:t>
            </a:r>
            <a:r>
              <a:rPr lang="en-US" altLang="ko-KR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</a:t>
            </a:r>
            <a:r>
              <a:rPr lang="en-US" altLang="ko-KR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검토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3460897-C427-6FD6-D2F5-518A37CA5BE5}"/>
              </a:ext>
            </a:extLst>
          </p:cNvPr>
          <p:cNvSpPr/>
          <p:nvPr/>
        </p:nvSpPr>
        <p:spPr>
          <a:xfrm>
            <a:off x="3416300" y="2209800"/>
            <a:ext cx="2413000" cy="110490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AE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F89F99-3ED7-4FC4-C877-A07AA7E9A999}"/>
              </a:ext>
            </a:extLst>
          </p:cNvPr>
          <p:cNvSpPr txBox="1"/>
          <p:nvPr/>
        </p:nvSpPr>
        <p:spPr>
          <a:xfrm>
            <a:off x="3543300" y="2362199"/>
            <a:ext cx="21590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9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FastAPI</a:t>
            </a:r>
            <a:endParaRPr lang="ko-KR" altLang="en-US" sz="1900" b="1">
              <a:solidFill>
                <a:srgbClr val="1325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D3DE1A-B3A5-22FC-9F76-01A3807468A5}"/>
              </a:ext>
            </a:extLst>
          </p:cNvPr>
          <p:cNvSpPr txBox="1"/>
          <p:nvPr/>
        </p:nvSpPr>
        <p:spPr>
          <a:xfrm>
            <a:off x="3543300" y="2806699"/>
            <a:ext cx="21590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생성</a:t>
            </a:r>
            <a:r>
              <a:rPr lang="en-US" altLang="ko-KR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r>
              <a:rPr lang="en-US" altLang="ko-KR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중단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222E8C9-F8AB-9368-3143-14C0FE379791}"/>
              </a:ext>
            </a:extLst>
          </p:cNvPr>
          <p:cNvSpPr/>
          <p:nvPr/>
        </p:nvSpPr>
        <p:spPr>
          <a:xfrm>
            <a:off x="6273800" y="2209800"/>
            <a:ext cx="2413000" cy="110490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AE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19367A-8660-9D88-26DF-0A6B37E1FD6C}"/>
              </a:ext>
            </a:extLst>
          </p:cNvPr>
          <p:cNvSpPr txBox="1"/>
          <p:nvPr/>
        </p:nvSpPr>
        <p:spPr>
          <a:xfrm>
            <a:off x="6400800" y="2362199"/>
            <a:ext cx="21590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9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단일 분석 작업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033BC4-227A-E42B-7C20-8A0C29757C04}"/>
              </a:ext>
            </a:extLst>
          </p:cNvPr>
          <p:cNvSpPr txBox="1"/>
          <p:nvPr/>
        </p:nvSpPr>
        <p:spPr>
          <a:xfrm>
            <a:off x="6400800" y="2806699"/>
            <a:ext cx="21590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상태</a:t>
            </a:r>
            <a:r>
              <a:rPr lang="en-US" altLang="ko-KR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공유 예산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214186E-B346-3EBB-F503-94E85005B2B1}"/>
              </a:ext>
            </a:extLst>
          </p:cNvPr>
          <p:cNvSpPr/>
          <p:nvPr/>
        </p:nvSpPr>
        <p:spPr>
          <a:xfrm>
            <a:off x="9131300" y="2209800"/>
            <a:ext cx="2501900" cy="110490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AE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838559-FF12-EDFB-4171-87C883FFD3F3}"/>
              </a:ext>
            </a:extLst>
          </p:cNvPr>
          <p:cNvSpPr txBox="1"/>
          <p:nvPr/>
        </p:nvSpPr>
        <p:spPr>
          <a:xfrm>
            <a:off x="9258300" y="2362199"/>
            <a:ext cx="2247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9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 수집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BD6F82-9FDC-87CD-8A5D-D2AF4F1FBD63}"/>
              </a:ext>
            </a:extLst>
          </p:cNvPr>
          <p:cNvSpPr txBox="1"/>
          <p:nvPr/>
        </p:nvSpPr>
        <p:spPr>
          <a:xfrm>
            <a:off x="9258300" y="2806699"/>
            <a:ext cx="22479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HTTP HTML / Edge DOM</a:t>
            </a:r>
            <a:endParaRPr lang="ko-KR" altLang="en-US" sz="13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351C2DF-0EA6-0D90-4FD5-DA6BA855F720}"/>
              </a:ext>
            </a:extLst>
          </p:cNvPr>
          <p:cNvCxnSpPr/>
          <p:nvPr/>
        </p:nvCxnSpPr>
        <p:spPr>
          <a:xfrm>
            <a:off x="3035300" y="2755900"/>
            <a:ext cx="304800" cy="0"/>
          </a:xfrm>
          <a:prstGeom prst="line">
            <a:avLst/>
          </a:prstGeom>
          <a:ln w="25400">
            <a:solidFill>
              <a:srgbClr val="2563E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1CF77A9-CF19-8A47-5420-C8054B2D4F03}"/>
              </a:ext>
            </a:extLst>
          </p:cNvPr>
          <p:cNvCxnSpPr/>
          <p:nvPr/>
        </p:nvCxnSpPr>
        <p:spPr>
          <a:xfrm>
            <a:off x="5892800" y="2755900"/>
            <a:ext cx="304800" cy="0"/>
          </a:xfrm>
          <a:prstGeom prst="line">
            <a:avLst/>
          </a:prstGeom>
          <a:ln w="25400">
            <a:solidFill>
              <a:srgbClr val="2563E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9CFAC4FA-47FD-56C2-A620-16D62980A51F}"/>
              </a:ext>
            </a:extLst>
          </p:cNvPr>
          <p:cNvCxnSpPr/>
          <p:nvPr/>
        </p:nvCxnSpPr>
        <p:spPr>
          <a:xfrm>
            <a:off x="8750300" y="2755900"/>
            <a:ext cx="304800" cy="0"/>
          </a:xfrm>
          <a:prstGeom prst="line">
            <a:avLst/>
          </a:prstGeom>
          <a:ln w="25400">
            <a:solidFill>
              <a:srgbClr val="2563E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D6264E8-DB80-844A-5FBA-1CEE37EFFF5D}"/>
              </a:ext>
            </a:extLst>
          </p:cNvPr>
          <p:cNvCxnSpPr/>
          <p:nvPr/>
        </p:nvCxnSpPr>
        <p:spPr>
          <a:xfrm>
            <a:off x="10375900" y="3378200"/>
            <a:ext cx="0" cy="368300"/>
          </a:xfrm>
          <a:prstGeom prst="line">
            <a:avLst/>
          </a:prstGeom>
          <a:ln w="25400">
            <a:solidFill>
              <a:srgbClr val="2563E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0EF9D23-6499-C431-354D-94615C48DA7A}"/>
              </a:ext>
            </a:extLst>
          </p:cNvPr>
          <p:cNvSpPr/>
          <p:nvPr/>
        </p:nvSpPr>
        <p:spPr>
          <a:xfrm>
            <a:off x="9131300" y="3822700"/>
            <a:ext cx="2501900" cy="110490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AE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6DF44F-7364-7D4E-7DDB-0799A4C7B8E1}"/>
              </a:ext>
            </a:extLst>
          </p:cNvPr>
          <p:cNvSpPr txBox="1"/>
          <p:nvPr/>
        </p:nvSpPr>
        <p:spPr>
          <a:xfrm>
            <a:off x="9258300" y="3975099"/>
            <a:ext cx="22479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9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특징</a:t>
            </a:r>
            <a:r>
              <a:rPr lang="en-US" altLang="ko-KR" sz="19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9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 분석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488205-360C-068E-15EB-EFFFF44E903F}"/>
              </a:ext>
            </a:extLst>
          </p:cNvPr>
          <p:cNvSpPr txBox="1"/>
          <p:nvPr/>
        </p:nvSpPr>
        <p:spPr>
          <a:xfrm>
            <a:off x="9258300" y="4419599"/>
            <a:ext cx="22479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수집 문서별 즉시 처리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49B9FBF-D94C-4C5C-434E-EE4D49A7D029}"/>
              </a:ext>
            </a:extLst>
          </p:cNvPr>
          <p:cNvSpPr/>
          <p:nvPr/>
        </p:nvSpPr>
        <p:spPr>
          <a:xfrm>
            <a:off x="6273800" y="3822700"/>
            <a:ext cx="2413000" cy="110490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AE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B7A1AA-C52F-A314-3DEB-49D540C8E022}"/>
              </a:ext>
            </a:extLst>
          </p:cNvPr>
          <p:cNvSpPr txBox="1"/>
          <p:nvPr/>
        </p:nvSpPr>
        <p:spPr>
          <a:xfrm>
            <a:off x="6400800" y="3975099"/>
            <a:ext cx="21590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9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제출 후보 선택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8744B5-1E17-168B-2913-553FA3239AEB}"/>
              </a:ext>
            </a:extLst>
          </p:cNvPr>
          <p:cNvSpPr txBox="1"/>
          <p:nvPr/>
        </p:nvSpPr>
        <p:spPr>
          <a:xfrm>
            <a:off x="6400800" y="4419599"/>
            <a:ext cx="21590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관련 원문 구간 연결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D70EC0FA-149C-425E-502F-4936A081074C}"/>
              </a:ext>
            </a:extLst>
          </p:cNvPr>
          <p:cNvSpPr/>
          <p:nvPr/>
        </p:nvSpPr>
        <p:spPr>
          <a:xfrm>
            <a:off x="3416300" y="3822700"/>
            <a:ext cx="2413000" cy="110490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AE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CDC94A4-7B41-B115-518C-3D3F643FC81F}"/>
              </a:ext>
            </a:extLst>
          </p:cNvPr>
          <p:cNvSpPr txBox="1"/>
          <p:nvPr/>
        </p:nvSpPr>
        <p:spPr>
          <a:xfrm>
            <a:off x="3543300" y="3975099"/>
            <a:ext cx="21590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9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 구성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91E152-33FF-F3E1-B96B-51D661AF5C56}"/>
              </a:ext>
            </a:extLst>
          </p:cNvPr>
          <p:cNvSpPr txBox="1"/>
          <p:nvPr/>
        </p:nvSpPr>
        <p:spPr>
          <a:xfrm>
            <a:off x="3543300" y="4419599"/>
            <a:ext cx="21590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원문</a:t>
            </a:r>
            <a:r>
              <a:rPr lang="en-US" altLang="ko-KR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위치</a:t>
            </a:r>
            <a:r>
              <a:rPr lang="en-US" altLang="ko-KR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범위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BA3AC6BE-E261-CBB0-FBC2-53480154266A}"/>
              </a:ext>
            </a:extLst>
          </p:cNvPr>
          <p:cNvCxnSpPr/>
          <p:nvPr/>
        </p:nvCxnSpPr>
        <p:spPr>
          <a:xfrm flipH="1">
            <a:off x="8763000" y="4381500"/>
            <a:ext cx="292100" cy="0"/>
          </a:xfrm>
          <a:prstGeom prst="line">
            <a:avLst/>
          </a:prstGeom>
          <a:ln w="25400">
            <a:solidFill>
              <a:srgbClr val="2563E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2D2AEFCA-E224-51AE-204B-827362C58BA4}"/>
              </a:ext>
            </a:extLst>
          </p:cNvPr>
          <p:cNvCxnSpPr/>
          <p:nvPr/>
        </p:nvCxnSpPr>
        <p:spPr>
          <a:xfrm flipH="1">
            <a:off x="5892800" y="4381500"/>
            <a:ext cx="304800" cy="0"/>
          </a:xfrm>
          <a:prstGeom prst="line">
            <a:avLst/>
          </a:prstGeom>
          <a:ln w="25400">
            <a:solidFill>
              <a:srgbClr val="2563E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F5FC33FB-1321-85E1-65C4-2B1B15C0279D}"/>
              </a:ext>
            </a:extLst>
          </p:cNvPr>
          <p:cNvSpPr/>
          <p:nvPr/>
        </p:nvSpPr>
        <p:spPr>
          <a:xfrm>
            <a:off x="558800" y="3822700"/>
            <a:ext cx="2413000" cy="1104900"/>
          </a:xfrm>
          <a:prstGeom prst="roundRect">
            <a:avLst/>
          </a:prstGeom>
          <a:solidFill>
            <a:srgbClr val="1325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903D26-8C20-6777-14E3-3BFAF4E79E6F}"/>
              </a:ext>
            </a:extLst>
          </p:cNvPr>
          <p:cNvSpPr txBox="1"/>
          <p:nvPr/>
        </p:nvSpPr>
        <p:spPr>
          <a:xfrm>
            <a:off x="685800" y="4000499"/>
            <a:ext cx="21590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7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문서별 반복
</a:t>
            </a:r>
            <a:r>
              <a:rPr lang="en-US" altLang="ko-KR" sz="17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UI</a:t>
            </a:r>
            <a:r>
              <a:rPr lang="ko-KR" altLang="en-US" sz="17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상태</a:t>
            </a:r>
            <a:r>
              <a:rPr lang="en-US" altLang="ko-KR" sz="17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7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 반환</a:t>
            </a: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489DDFBF-56E1-7122-9D64-679A4D058FFA}"/>
              </a:ext>
            </a:extLst>
          </p:cNvPr>
          <p:cNvCxnSpPr/>
          <p:nvPr/>
        </p:nvCxnSpPr>
        <p:spPr>
          <a:xfrm>
            <a:off x="4635500" y="4991100"/>
            <a:ext cx="0" cy="457200"/>
          </a:xfrm>
          <a:prstGeom prst="line">
            <a:avLst/>
          </a:prstGeom>
          <a:ln w="25400">
            <a:solidFill>
              <a:srgbClr val="2563E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C6276107-FC1C-072F-9329-093921D0B507}"/>
              </a:ext>
            </a:extLst>
          </p:cNvPr>
          <p:cNvCxnSpPr/>
          <p:nvPr/>
        </p:nvCxnSpPr>
        <p:spPr>
          <a:xfrm>
            <a:off x="4635500" y="5283200"/>
            <a:ext cx="2844800" cy="0"/>
          </a:xfrm>
          <a:prstGeom prst="line">
            <a:avLst/>
          </a:prstGeom>
          <a:ln w="25400">
            <a:solidFill>
              <a:srgbClr val="2563E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47629BB-E169-F408-93FE-B1E0BF5352E3}"/>
              </a:ext>
            </a:extLst>
          </p:cNvPr>
          <p:cNvCxnSpPr/>
          <p:nvPr/>
        </p:nvCxnSpPr>
        <p:spPr>
          <a:xfrm>
            <a:off x="7480300" y="5283200"/>
            <a:ext cx="0" cy="165100"/>
          </a:xfrm>
          <a:prstGeom prst="line">
            <a:avLst/>
          </a:prstGeom>
          <a:ln w="25400">
            <a:solidFill>
              <a:srgbClr val="2563E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795508E6-0F05-7A9E-0806-347514A5F640}"/>
              </a:ext>
            </a:extLst>
          </p:cNvPr>
          <p:cNvSpPr/>
          <p:nvPr/>
        </p:nvSpPr>
        <p:spPr>
          <a:xfrm>
            <a:off x="3416300" y="5511800"/>
            <a:ext cx="2413000" cy="381000"/>
          </a:xfrm>
          <a:prstGeom prst="roundRect">
            <a:avLst/>
          </a:prstGeom>
          <a:solidFill>
            <a:srgbClr val="F0F5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5559110-2203-7D74-E7F2-7A789687B96C}"/>
              </a:ext>
            </a:extLst>
          </p:cNvPr>
          <p:cNvSpPr txBox="1"/>
          <p:nvPr/>
        </p:nvSpPr>
        <p:spPr>
          <a:xfrm>
            <a:off x="3517900" y="5575299"/>
            <a:ext cx="2209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</a:t>
            </a:r>
            <a:r>
              <a:rPr lang="en-US" altLang="ko-KR" sz="1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</a:t>
            </a:r>
            <a:r>
              <a:rPr lang="en-US" altLang="ko-KR" sz="1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JSON</a:t>
            </a:r>
            <a:endParaRPr lang="ko-KR" altLang="en-US" sz="1200" b="1">
              <a:solidFill>
                <a:srgbClr val="1325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2760AEDE-20ED-B9A5-B565-BFFD485913CA}"/>
              </a:ext>
            </a:extLst>
          </p:cNvPr>
          <p:cNvSpPr/>
          <p:nvPr/>
        </p:nvSpPr>
        <p:spPr>
          <a:xfrm>
            <a:off x="6273800" y="5511800"/>
            <a:ext cx="2413000" cy="381000"/>
          </a:xfrm>
          <a:prstGeom prst="roundRect">
            <a:avLst/>
          </a:prstGeom>
          <a:solidFill>
            <a:srgbClr val="F0F5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99D1908-FD21-FA26-041C-2A329C71CAAE}"/>
              </a:ext>
            </a:extLst>
          </p:cNvPr>
          <p:cNvSpPr txBox="1"/>
          <p:nvPr/>
        </p:nvSpPr>
        <p:spPr>
          <a:xfrm>
            <a:off x="6375400" y="5575299"/>
            <a:ext cx="2209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SQLite </a:t>
            </a:r>
            <a:r>
              <a:rPr lang="ko-KR" altLang="en-US" sz="1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완료 이력</a:t>
            </a:r>
          </a:p>
        </p:txBody>
      </p:sp>
    </p:spTree>
    <p:extLst>
      <p:ext uri="{BB962C8B-B14F-4D97-AF65-F5344CB8AC3E}">
        <p14:creationId xmlns:p14="http://schemas.microsoft.com/office/powerpoint/2010/main" val="102993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244C8A5-2582-3177-76D9-AF5AA819B832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51805A-6BCA-247C-467C-3CBF4E4A82AF}"/>
              </a:ext>
            </a:extLst>
          </p:cNvPr>
          <p:cNvSpPr txBox="1"/>
          <p:nvPr/>
        </p:nvSpPr>
        <p:spPr>
          <a:xfrm>
            <a:off x="558800" y="317500"/>
            <a:ext cx="10541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1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  </a:t>
            </a:r>
            <a:r>
              <a:rPr lang="ko-KR" altLang="en-US" sz="11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흐름과 화면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AE9A5A-BBC1-5ACB-9F35-FE9097A06D8F}"/>
              </a:ext>
            </a:extLst>
          </p:cNvPr>
          <p:cNvSpPr txBox="1"/>
          <p:nvPr/>
        </p:nvSpPr>
        <p:spPr>
          <a:xfrm>
            <a:off x="558800" y="723899"/>
            <a:ext cx="110744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이용 흐름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E9D9CE-B3FE-124D-BE12-A7D7B8620F2F}"/>
              </a:ext>
            </a:extLst>
          </p:cNvPr>
          <p:cNvSpPr txBox="1"/>
          <p:nvPr/>
        </p:nvSpPr>
        <p:spPr>
          <a:xfrm>
            <a:off x="558800" y="1460499"/>
            <a:ext cx="11049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분석과 사람이 판단하는 검토를 연결합니다</a:t>
            </a:r>
            <a:r>
              <a:rPr lang="en-US" altLang="ko-KR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7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B861C50-6FB5-CE2B-4EB8-00B0370B91EB}"/>
              </a:ext>
            </a:extLst>
          </p:cNvPr>
          <p:cNvSpPr/>
          <p:nvPr/>
        </p:nvSpPr>
        <p:spPr>
          <a:xfrm>
            <a:off x="558800" y="6362700"/>
            <a:ext cx="11074400" cy="12700"/>
          </a:xfrm>
          <a:prstGeom prst="rect">
            <a:avLst/>
          </a:prstGeom>
          <a:solidFill>
            <a:srgbClr val="DAE2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319E1A-E2CE-BDE9-DBCA-5D195B3E231F}"/>
              </a:ext>
            </a:extLst>
          </p:cNvPr>
          <p:cNvSpPr txBox="1"/>
          <p:nvPr/>
        </p:nvSpPr>
        <p:spPr>
          <a:xfrm>
            <a:off x="558800" y="6527800"/>
            <a:ext cx="10414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공공 웹사이트 불법광고 탐지 도구 프로젝트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70896B-3AAB-53FF-E3C4-ABCA3C826382}"/>
              </a:ext>
            </a:extLst>
          </p:cNvPr>
          <p:cNvSpPr txBox="1"/>
          <p:nvPr/>
        </p:nvSpPr>
        <p:spPr>
          <a:xfrm>
            <a:off x="10998200" y="6477000"/>
            <a:ext cx="635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11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 / 15</a:t>
            </a:r>
            <a:endParaRPr lang="ko-KR" altLang="en-US" sz="11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3AA07B6-E5CD-5807-C875-3659C64A7F3D}"/>
              </a:ext>
            </a:extLst>
          </p:cNvPr>
          <p:cNvSpPr/>
          <p:nvPr/>
        </p:nvSpPr>
        <p:spPr>
          <a:xfrm>
            <a:off x="558800" y="2603500"/>
            <a:ext cx="1981200" cy="175260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AE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7A7743-E27B-D055-0FA5-0F7ED1C65E1F}"/>
              </a:ext>
            </a:extLst>
          </p:cNvPr>
          <p:cNvSpPr txBox="1"/>
          <p:nvPr/>
        </p:nvSpPr>
        <p:spPr>
          <a:xfrm>
            <a:off x="685800" y="2755899"/>
            <a:ext cx="17272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9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8911B7-C241-4B0C-9B4B-FD1D7002B23E}"/>
              </a:ext>
            </a:extLst>
          </p:cNvPr>
          <p:cNvSpPr txBox="1"/>
          <p:nvPr/>
        </p:nvSpPr>
        <p:spPr>
          <a:xfrm>
            <a:off x="685800" y="3200399"/>
            <a:ext cx="17272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URL·</a:t>
            </a:r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모드
문서</a:t>
            </a:r>
            <a:r>
              <a:rPr lang="en-US" altLang="ko-KR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깊이</a:t>
            </a:r>
            <a:r>
              <a:rPr lang="en-US" altLang="ko-KR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6C0863B-42C9-F7A6-C4B9-C19AC7B6845A}"/>
              </a:ext>
            </a:extLst>
          </p:cNvPr>
          <p:cNvCxnSpPr/>
          <p:nvPr/>
        </p:nvCxnSpPr>
        <p:spPr>
          <a:xfrm>
            <a:off x="2590800" y="3441700"/>
            <a:ext cx="177800" cy="0"/>
          </a:xfrm>
          <a:prstGeom prst="line">
            <a:avLst/>
          </a:prstGeom>
          <a:ln w="25400">
            <a:solidFill>
              <a:srgbClr val="2563E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D083426-C409-CBA1-278E-48C1B02ECDAD}"/>
              </a:ext>
            </a:extLst>
          </p:cNvPr>
          <p:cNvSpPr/>
          <p:nvPr/>
        </p:nvSpPr>
        <p:spPr>
          <a:xfrm>
            <a:off x="1168400" y="2120900"/>
            <a:ext cx="762000" cy="381000"/>
          </a:xfrm>
          <a:prstGeom prst="roundRect">
            <a:avLst/>
          </a:prstGeom>
          <a:solidFill>
            <a:srgbClr val="F0F5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0102B8-BF9A-1953-A6F3-726F2E7DA0ED}"/>
              </a:ext>
            </a:extLst>
          </p:cNvPr>
          <p:cNvSpPr txBox="1"/>
          <p:nvPr/>
        </p:nvSpPr>
        <p:spPr>
          <a:xfrm>
            <a:off x="1270000" y="2184399"/>
            <a:ext cx="558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1200" b="1">
              <a:solidFill>
                <a:srgbClr val="2563E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AA0C213-BDF5-EF7B-E7A7-C42DE6E291A7}"/>
              </a:ext>
            </a:extLst>
          </p:cNvPr>
          <p:cNvSpPr/>
          <p:nvPr/>
        </p:nvSpPr>
        <p:spPr>
          <a:xfrm>
            <a:off x="2832100" y="2603500"/>
            <a:ext cx="1981200" cy="175260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AE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16FE74-5325-CE82-F1BF-2B18D8C9C687}"/>
              </a:ext>
            </a:extLst>
          </p:cNvPr>
          <p:cNvSpPr txBox="1"/>
          <p:nvPr/>
        </p:nvSpPr>
        <p:spPr>
          <a:xfrm>
            <a:off x="2959100" y="2755899"/>
            <a:ext cx="17272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9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5AA024-9E35-085C-DAC2-C31DEFBD3B03}"/>
              </a:ext>
            </a:extLst>
          </p:cNvPr>
          <p:cNvSpPr txBox="1"/>
          <p:nvPr/>
        </p:nvSpPr>
        <p:spPr>
          <a:xfrm>
            <a:off x="2959100" y="3200399"/>
            <a:ext cx="17272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진행 건수
현재 </a:t>
            </a:r>
            <a:r>
              <a:rPr lang="en-US" altLang="ko-KR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URL·</a:t>
            </a:r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경과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42D23E2-08C9-B9BD-B5BD-9655D704BC42}"/>
              </a:ext>
            </a:extLst>
          </p:cNvPr>
          <p:cNvCxnSpPr/>
          <p:nvPr/>
        </p:nvCxnSpPr>
        <p:spPr>
          <a:xfrm>
            <a:off x="4864100" y="3441700"/>
            <a:ext cx="177800" cy="0"/>
          </a:xfrm>
          <a:prstGeom prst="line">
            <a:avLst/>
          </a:prstGeom>
          <a:ln w="25400">
            <a:solidFill>
              <a:srgbClr val="2563E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3ED2886-076F-26C0-B757-5EDF712CB48D}"/>
              </a:ext>
            </a:extLst>
          </p:cNvPr>
          <p:cNvSpPr/>
          <p:nvPr/>
        </p:nvSpPr>
        <p:spPr>
          <a:xfrm>
            <a:off x="3441700" y="2120900"/>
            <a:ext cx="762000" cy="381000"/>
          </a:xfrm>
          <a:prstGeom prst="roundRect">
            <a:avLst/>
          </a:prstGeom>
          <a:solidFill>
            <a:srgbClr val="F0F5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6D5D18-CB52-AAE9-EFF7-37474836CF46}"/>
              </a:ext>
            </a:extLst>
          </p:cNvPr>
          <p:cNvSpPr txBox="1"/>
          <p:nvPr/>
        </p:nvSpPr>
        <p:spPr>
          <a:xfrm>
            <a:off x="3543300" y="2184399"/>
            <a:ext cx="558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200" b="1">
              <a:solidFill>
                <a:srgbClr val="2563E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3B2DAA3-08A4-ACA5-D320-5ED583BBC2AB}"/>
              </a:ext>
            </a:extLst>
          </p:cNvPr>
          <p:cNvSpPr/>
          <p:nvPr/>
        </p:nvSpPr>
        <p:spPr>
          <a:xfrm>
            <a:off x="5105400" y="2603500"/>
            <a:ext cx="1981200" cy="175260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AE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702E95-3286-6527-C89C-1F140563D5B7}"/>
              </a:ext>
            </a:extLst>
          </p:cNvPr>
          <p:cNvSpPr txBox="1"/>
          <p:nvPr/>
        </p:nvSpPr>
        <p:spPr>
          <a:xfrm>
            <a:off x="5232400" y="2755899"/>
            <a:ext cx="17272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9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 확인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384211-1341-7E89-8BC6-4E8434B76190}"/>
              </a:ext>
            </a:extLst>
          </p:cNvPr>
          <p:cNvSpPr txBox="1"/>
          <p:nvPr/>
        </p:nvSpPr>
        <p:spPr>
          <a:xfrm>
            <a:off x="5232400" y="3200399"/>
            <a:ext cx="17272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원문</a:t>
            </a:r>
            <a:r>
              <a:rPr lang="en-US" altLang="ko-KR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위치
실제 분석 범위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8C553113-4A42-7B8A-F4D4-1C62EAF68F9F}"/>
              </a:ext>
            </a:extLst>
          </p:cNvPr>
          <p:cNvCxnSpPr/>
          <p:nvPr/>
        </p:nvCxnSpPr>
        <p:spPr>
          <a:xfrm>
            <a:off x="7137400" y="3441700"/>
            <a:ext cx="177800" cy="0"/>
          </a:xfrm>
          <a:prstGeom prst="line">
            <a:avLst/>
          </a:prstGeom>
          <a:ln w="25400">
            <a:solidFill>
              <a:srgbClr val="2563E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D4926D3-41C8-BE04-AF58-C607AC91755F}"/>
              </a:ext>
            </a:extLst>
          </p:cNvPr>
          <p:cNvSpPr/>
          <p:nvPr/>
        </p:nvSpPr>
        <p:spPr>
          <a:xfrm>
            <a:off x="5715000" y="2120900"/>
            <a:ext cx="762000" cy="381000"/>
          </a:xfrm>
          <a:prstGeom prst="roundRect">
            <a:avLst/>
          </a:prstGeom>
          <a:solidFill>
            <a:srgbClr val="F0F5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C81C83-969C-9E0B-8DD0-B505332A407B}"/>
              </a:ext>
            </a:extLst>
          </p:cNvPr>
          <p:cNvSpPr txBox="1"/>
          <p:nvPr/>
        </p:nvSpPr>
        <p:spPr>
          <a:xfrm>
            <a:off x="5816600" y="2184399"/>
            <a:ext cx="558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200" b="1">
              <a:solidFill>
                <a:srgbClr val="2563E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92D07DB-C73B-7271-B0BD-27F7BD5A091D}"/>
              </a:ext>
            </a:extLst>
          </p:cNvPr>
          <p:cNvSpPr/>
          <p:nvPr/>
        </p:nvSpPr>
        <p:spPr>
          <a:xfrm>
            <a:off x="7378700" y="2603500"/>
            <a:ext cx="1981200" cy="175260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AE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B91484-70FF-9B38-AA76-A19502CB0DC9}"/>
              </a:ext>
            </a:extLst>
          </p:cNvPr>
          <p:cNvSpPr txBox="1"/>
          <p:nvPr/>
        </p:nvSpPr>
        <p:spPr>
          <a:xfrm>
            <a:off x="7505700" y="2755899"/>
            <a:ext cx="17272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9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보관</a:t>
            </a:r>
            <a:r>
              <a:rPr lang="en-US" altLang="ko-KR" sz="19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9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91627A-D137-BB2D-D527-2C2D42CEC2B8}"/>
              </a:ext>
            </a:extLst>
          </p:cNvPr>
          <p:cNvSpPr txBox="1"/>
          <p:nvPr/>
        </p:nvSpPr>
        <p:spPr>
          <a:xfrm>
            <a:off x="7505700" y="3200399"/>
            <a:ext cx="17272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JSON </a:t>
            </a:r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다운로드
분석 이력 상세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BB5E931D-2882-43B3-1B12-91BF1D7DFE1D}"/>
              </a:ext>
            </a:extLst>
          </p:cNvPr>
          <p:cNvCxnSpPr/>
          <p:nvPr/>
        </p:nvCxnSpPr>
        <p:spPr>
          <a:xfrm>
            <a:off x="9410700" y="3441700"/>
            <a:ext cx="177800" cy="0"/>
          </a:xfrm>
          <a:prstGeom prst="line">
            <a:avLst/>
          </a:prstGeom>
          <a:ln w="25400">
            <a:solidFill>
              <a:srgbClr val="2563E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08FEB690-D0D6-086C-462C-B31547DB3C44}"/>
              </a:ext>
            </a:extLst>
          </p:cNvPr>
          <p:cNvSpPr/>
          <p:nvPr/>
        </p:nvSpPr>
        <p:spPr>
          <a:xfrm>
            <a:off x="7988300" y="2120900"/>
            <a:ext cx="762000" cy="381000"/>
          </a:xfrm>
          <a:prstGeom prst="roundRect">
            <a:avLst/>
          </a:prstGeom>
          <a:solidFill>
            <a:srgbClr val="F0F5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9123BC-BD01-3BB4-7634-75996029A2DD}"/>
              </a:ext>
            </a:extLst>
          </p:cNvPr>
          <p:cNvSpPr txBox="1"/>
          <p:nvPr/>
        </p:nvSpPr>
        <p:spPr>
          <a:xfrm>
            <a:off x="8089900" y="2184399"/>
            <a:ext cx="558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1200" b="1">
              <a:solidFill>
                <a:srgbClr val="2563E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4B791584-F961-133D-0FA4-37ABD9AD5174}"/>
              </a:ext>
            </a:extLst>
          </p:cNvPr>
          <p:cNvSpPr/>
          <p:nvPr/>
        </p:nvSpPr>
        <p:spPr>
          <a:xfrm>
            <a:off x="9652000" y="2603500"/>
            <a:ext cx="1981200" cy="175260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AE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83CE64-9C9D-94E5-2AD4-A2054E32D32F}"/>
              </a:ext>
            </a:extLst>
          </p:cNvPr>
          <p:cNvSpPr txBox="1"/>
          <p:nvPr/>
        </p:nvSpPr>
        <p:spPr>
          <a:xfrm>
            <a:off x="9779000" y="2755899"/>
            <a:ext cx="17272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9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후보 검토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17C393-0DD6-6423-731F-F62054870E22}"/>
              </a:ext>
            </a:extLst>
          </p:cNvPr>
          <p:cNvSpPr txBox="1"/>
          <p:nvPr/>
        </p:nvSpPr>
        <p:spPr>
          <a:xfrm>
            <a:off x="9779000" y="3200399"/>
            <a:ext cx="17272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홍보</a:t>
            </a:r>
            <a:r>
              <a:rPr lang="en-US" altLang="ko-KR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</a:t>
            </a:r>
            <a:r>
              <a:rPr lang="en-US" altLang="ko-KR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보류
검토자</a:t>
            </a:r>
            <a:r>
              <a:rPr lang="en-US" altLang="ko-KR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이유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E6893E57-3C02-6874-5010-1075242C74B1}"/>
              </a:ext>
            </a:extLst>
          </p:cNvPr>
          <p:cNvSpPr/>
          <p:nvPr/>
        </p:nvSpPr>
        <p:spPr>
          <a:xfrm>
            <a:off x="10261600" y="2120900"/>
            <a:ext cx="762000" cy="381000"/>
          </a:xfrm>
          <a:prstGeom prst="roundRect">
            <a:avLst/>
          </a:prstGeom>
          <a:solidFill>
            <a:srgbClr val="F0F5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D12F27-99D7-EFBF-E03B-2F487D67526E}"/>
              </a:ext>
            </a:extLst>
          </p:cNvPr>
          <p:cNvSpPr txBox="1"/>
          <p:nvPr/>
        </p:nvSpPr>
        <p:spPr>
          <a:xfrm>
            <a:off x="10363200" y="2184399"/>
            <a:ext cx="558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altLang="en-US" sz="1200" b="1">
              <a:solidFill>
                <a:srgbClr val="2563E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A0097B20-0503-59C4-68E3-1667A7183CE4}"/>
              </a:ext>
            </a:extLst>
          </p:cNvPr>
          <p:cNvCxnSpPr/>
          <p:nvPr/>
        </p:nvCxnSpPr>
        <p:spPr>
          <a:xfrm>
            <a:off x="3822700" y="4432300"/>
            <a:ext cx="0" cy="419100"/>
          </a:xfrm>
          <a:prstGeom prst="line">
            <a:avLst/>
          </a:prstGeom>
          <a:ln w="25400">
            <a:solidFill>
              <a:srgbClr val="B4631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6332993F-AE33-541E-4BAC-49F03B6827ED}"/>
              </a:ext>
            </a:extLst>
          </p:cNvPr>
          <p:cNvSpPr/>
          <p:nvPr/>
        </p:nvSpPr>
        <p:spPr>
          <a:xfrm>
            <a:off x="2832100" y="4953000"/>
            <a:ext cx="4254500" cy="939800"/>
          </a:xfrm>
          <a:prstGeom prst="roundRect">
            <a:avLst/>
          </a:prstGeom>
          <a:solidFill>
            <a:srgbClr val="FFF8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485DEBA-A873-F130-4A6D-9CE2F680DE80}"/>
              </a:ext>
            </a:extLst>
          </p:cNvPr>
          <p:cNvSpPr txBox="1"/>
          <p:nvPr/>
        </p:nvSpPr>
        <p:spPr>
          <a:xfrm>
            <a:off x="3009900" y="5092699"/>
            <a:ext cx="39370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 b="1">
                <a:solidFill>
                  <a:srgbClr val="B4631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중단 요청 → 완료 문서의 부분 결과
진행 중 처리를 정리한 뒤 반환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30FEDEC-3EF1-41BE-AEAF-4ACE3DE00185}"/>
              </a:ext>
            </a:extLst>
          </p:cNvPr>
          <p:cNvSpPr txBox="1"/>
          <p:nvPr/>
        </p:nvSpPr>
        <p:spPr>
          <a:xfrm>
            <a:off x="7708900" y="5054599"/>
            <a:ext cx="3810000" cy="749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검토는 판단 근거를 추가하는 과정
기존 제출 </a:t>
            </a:r>
            <a:r>
              <a:rPr lang="en-US" altLang="ko-KR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JSON</a:t>
            </a:r>
            <a:r>
              <a:rPr lang="ko-KR" altLang="en-US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유지</a:t>
            </a:r>
          </a:p>
        </p:txBody>
      </p:sp>
    </p:spTree>
    <p:extLst>
      <p:ext uri="{BB962C8B-B14F-4D97-AF65-F5344CB8AC3E}">
        <p14:creationId xmlns:p14="http://schemas.microsoft.com/office/powerpoint/2010/main" val="2455774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052891C-4C8C-D4B8-1F19-E846248707F6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D4E40D-1BD8-1D74-1A11-B922A0634728}"/>
              </a:ext>
            </a:extLst>
          </p:cNvPr>
          <p:cNvSpPr txBox="1"/>
          <p:nvPr/>
        </p:nvSpPr>
        <p:spPr>
          <a:xfrm>
            <a:off x="558800" y="317500"/>
            <a:ext cx="10541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1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  </a:t>
            </a:r>
            <a:r>
              <a:rPr lang="ko-KR" altLang="en-US" sz="11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흐름과 화면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41C87E-B2F5-D190-D9D6-37F6487E6B60}"/>
              </a:ext>
            </a:extLst>
          </p:cNvPr>
          <p:cNvSpPr txBox="1"/>
          <p:nvPr/>
        </p:nvSpPr>
        <p:spPr>
          <a:xfrm>
            <a:off x="558800" y="723899"/>
            <a:ext cx="110744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화면 설계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C26EF3-E859-914A-6890-93B5C00ADC7D}"/>
              </a:ext>
            </a:extLst>
          </p:cNvPr>
          <p:cNvSpPr txBox="1"/>
          <p:nvPr/>
        </p:nvSpPr>
        <p:spPr>
          <a:xfrm>
            <a:off x="558800" y="1460499"/>
            <a:ext cx="11049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</a:t>
            </a:r>
            <a:r>
              <a:rPr lang="en-US" altLang="ko-KR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진행</a:t>
            </a:r>
            <a:r>
              <a:rPr lang="en-US" altLang="ko-KR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</a:t>
            </a:r>
            <a:r>
              <a:rPr lang="en-US" altLang="ko-KR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범위를 한 화면에서 구분합니다</a:t>
            </a:r>
            <a:r>
              <a:rPr lang="en-US" altLang="ko-KR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7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270919-BFCB-8D4C-737E-F4504FA7F1B9}"/>
              </a:ext>
            </a:extLst>
          </p:cNvPr>
          <p:cNvSpPr/>
          <p:nvPr/>
        </p:nvSpPr>
        <p:spPr>
          <a:xfrm>
            <a:off x="558800" y="6362700"/>
            <a:ext cx="11074400" cy="12700"/>
          </a:xfrm>
          <a:prstGeom prst="rect">
            <a:avLst/>
          </a:prstGeom>
          <a:solidFill>
            <a:srgbClr val="DAE2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A5DEE9-66C2-EB71-4FDB-4AC7278792D1}"/>
              </a:ext>
            </a:extLst>
          </p:cNvPr>
          <p:cNvSpPr txBox="1"/>
          <p:nvPr/>
        </p:nvSpPr>
        <p:spPr>
          <a:xfrm>
            <a:off x="558800" y="6527800"/>
            <a:ext cx="10414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공공 웹사이트 불법광고 탐지 도구 프로젝트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A4F513-7F36-E8E1-799B-0DC4E9D0939F}"/>
              </a:ext>
            </a:extLst>
          </p:cNvPr>
          <p:cNvSpPr txBox="1"/>
          <p:nvPr/>
        </p:nvSpPr>
        <p:spPr>
          <a:xfrm>
            <a:off x="10998200" y="6477000"/>
            <a:ext cx="635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11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 / 15</a:t>
            </a:r>
            <a:endParaRPr lang="ko-KR" altLang="en-US" sz="11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579EC19-0DAE-9671-192D-83F6F3E76FA9}"/>
              </a:ext>
            </a:extLst>
          </p:cNvPr>
          <p:cNvSpPr/>
          <p:nvPr/>
        </p:nvSpPr>
        <p:spPr>
          <a:xfrm>
            <a:off x="558800" y="2108200"/>
            <a:ext cx="1778000" cy="381000"/>
          </a:xfrm>
          <a:prstGeom prst="roundRect">
            <a:avLst/>
          </a:prstGeom>
          <a:solidFill>
            <a:srgbClr val="F0F5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B7CD45-BD97-AA5A-9719-3D0324847E1F}"/>
              </a:ext>
            </a:extLst>
          </p:cNvPr>
          <p:cNvSpPr txBox="1"/>
          <p:nvPr/>
        </p:nvSpPr>
        <p:spPr>
          <a:xfrm>
            <a:off x="660400" y="2171699"/>
            <a:ext cx="1574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화면설계도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11273A6-2BAF-B738-6752-302E7DFE1745}"/>
              </a:ext>
            </a:extLst>
          </p:cNvPr>
          <p:cNvSpPr/>
          <p:nvPr/>
        </p:nvSpPr>
        <p:spPr>
          <a:xfrm>
            <a:off x="558800" y="2628900"/>
            <a:ext cx="6794500" cy="3492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FE8394-84C4-EB0E-EE2F-556AE2030BB8}"/>
              </a:ext>
            </a:extLst>
          </p:cNvPr>
          <p:cNvSpPr txBox="1"/>
          <p:nvPr/>
        </p:nvSpPr>
        <p:spPr>
          <a:xfrm>
            <a:off x="736600" y="2768599"/>
            <a:ext cx="6350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불법광고 탐지 도구    </a:t>
            </a:r>
            <a:r>
              <a:rPr lang="en-US" altLang="ko-KR" sz="15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  </a:t>
            </a:r>
            <a:r>
              <a:rPr lang="ko-KR" altLang="en-US" sz="15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이력</a:t>
            </a:r>
            <a:r>
              <a:rPr lang="en-US" altLang="ko-KR" sz="15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5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후보 검토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80B6040-CB0B-5EF0-9E46-2F1CF151E0E3}"/>
              </a:ext>
            </a:extLst>
          </p:cNvPr>
          <p:cNvSpPr/>
          <p:nvPr/>
        </p:nvSpPr>
        <p:spPr>
          <a:xfrm>
            <a:off x="736600" y="3213100"/>
            <a:ext cx="6438900" cy="596900"/>
          </a:xfrm>
          <a:prstGeom prst="roundRect">
            <a:avLst/>
          </a:prstGeom>
          <a:solidFill>
            <a:srgbClr val="F0F5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6AB5B0-355E-5C5B-FB3E-52CDDBB25B44}"/>
              </a:ext>
            </a:extLst>
          </p:cNvPr>
          <p:cNvSpPr txBox="1"/>
          <p:nvPr/>
        </p:nvSpPr>
        <p:spPr>
          <a:xfrm>
            <a:off x="863600" y="3289299"/>
            <a:ext cx="62230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① </a:t>
            </a:r>
            <a:r>
              <a:rPr lang="en-US" altLang="ko-KR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[URL] [</a:t>
            </a:r>
            <a:r>
              <a:rPr lang="ko-KR" altLang="en-US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</a:t>
            </a:r>
            <a:r>
              <a:rPr lang="en-US" altLang="ko-KR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동적</a:t>
            </a:r>
            <a:r>
              <a:rPr lang="en-US" altLang="ko-KR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 [</a:t>
            </a:r>
            <a:r>
              <a:rPr lang="ko-KR" altLang="en-US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 필터</a:t>
            </a:r>
            <a:r>
              <a:rPr lang="en-US" altLang="ko-KR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 [</a:t>
            </a:r>
            <a:r>
              <a:rPr lang="ko-KR" altLang="en-US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</a:t>
            </a:r>
            <a:r>
              <a:rPr lang="en-US" altLang="ko-KR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
    [</a:t>
            </a:r>
            <a:r>
              <a:rPr lang="ko-KR" altLang="en-US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 한도</a:t>
            </a:r>
            <a:r>
              <a:rPr lang="en-US" altLang="ko-KR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 [</a:t>
            </a:r>
            <a:r>
              <a:rPr lang="ko-KR" altLang="en-US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링크 깊이</a:t>
            </a:r>
            <a:r>
              <a:rPr lang="en-US" altLang="ko-KR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 [</a:t>
            </a:r>
            <a:r>
              <a:rPr lang="ko-KR" altLang="en-US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 예산</a:t>
            </a:r>
            <a:r>
              <a:rPr lang="en-US" altLang="ko-KR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200">
              <a:solidFill>
                <a:srgbClr val="1325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D727116-6602-BA42-D57B-1E386AFD14C8}"/>
              </a:ext>
            </a:extLst>
          </p:cNvPr>
          <p:cNvSpPr/>
          <p:nvPr/>
        </p:nvSpPr>
        <p:spPr>
          <a:xfrm>
            <a:off x="736600" y="3937000"/>
            <a:ext cx="6438900" cy="558800"/>
          </a:xfrm>
          <a:prstGeom prst="roundRect">
            <a:avLst/>
          </a:prstGeom>
          <a:solidFill>
            <a:srgbClr val="F0F5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A55D79-854C-8886-0B17-464A7273B3CB}"/>
              </a:ext>
            </a:extLst>
          </p:cNvPr>
          <p:cNvSpPr txBox="1"/>
          <p:nvPr/>
        </p:nvSpPr>
        <p:spPr>
          <a:xfrm>
            <a:off x="863600" y="4013199"/>
            <a:ext cx="6223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② 상태</a:t>
            </a:r>
            <a:r>
              <a:rPr lang="en-US" altLang="ko-KR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진행 막대 </a:t>
            </a:r>
            <a:r>
              <a:rPr lang="en-US" altLang="ko-KR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건수</a:t>
            </a:r>
            <a:r>
              <a:rPr lang="en-US" altLang="ko-KR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</a:t>
            </a:r>
            <a:r>
              <a:rPr lang="en-US" altLang="ko-KR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URL·</a:t>
            </a:r>
            <a:r>
              <a:rPr lang="ko-KR" altLang="en-US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경과
    </a:t>
            </a:r>
            <a:r>
              <a:rPr lang="en-US" altLang="ko-KR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중단하고 현재 결과 보기</a:t>
            </a:r>
            <a:r>
              <a:rPr lang="en-US" altLang="ko-KR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200">
              <a:solidFill>
                <a:srgbClr val="1325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15569B1-78ED-FC5F-8975-3AD4E5359C81}"/>
              </a:ext>
            </a:extLst>
          </p:cNvPr>
          <p:cNvSpPr/>
          <p:nvPr/>
        </p:nvSpPr>
        <p:spPr>
          <a:xfrm>
            <a:off x="736600" y="4622800"/>
            <a:ext cx="6438900" cy="546100"/>
          </a:xfrm>
          <a:prstGeom prst="roundRect">
            <a:avLst/>
          </a:prstGeom>
          <a:solidFill>
            <a:srgbClr val="F0F5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045C61-2856-B930-71A0-050722FAFF23}"/>
              </a:ext>
            </a:extLst>
          </p:cNvPr>
          <p:cNvSpPr txBox="1"/>
          <p:nvPr/>
        </p:nvSpPr>
        <p:spPr>
          <a:xfrm>
            <a:off x="863600" y="4698999"/>
            <a:ext cx="62230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③ </a:t>
            </a:r>
            <a:r>
              <a:rPr lang="en-US" altLang="ko-KR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 </a:t>
            </a:r>
            <a:r>
              <a:rPr lang="en-US" altLang="ko-KR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JSON] [</a:t>
            </a:r>
            <a:r>
              <a:rPr lang="ko-KR" altLang="en-US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광고 후보</a:t>
            </a:r>
            <a:r>
              <a:rPr lang="en-US" altLang="ko-KR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 [</a:t>
            </a:r>
            <a:r>
              <a:rPr lang="ko-KR" altLang="en-US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결과</a:t>
            </a:r>
            <a:r>
              <a:rPr lang="en-US" altLang="ko-KR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
    </a:t>
            </a:r>
            <a:r>
              <a:rPr lang="ko-KR" altLang="en-US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요약 </a:t>
            </a:r>
            <a:r>
              <a:rPr lang="en-US" altLang="ko-KR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▶ </a:t>
            </a:r>
            <a:r>
              <a:rPr lang="ko-KR" altLang="en-US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안내 사유별 건수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8347140-8979-C64B-0EC3-BBA757A64FA8}"/>
              </a:ext>
            </a:extLst>
          </p:cNvPr>
          <p:cNvSpPr/>
          <p:nvPr/>
        </p:nvSpPr>
        <p:spPr>
          <a:xfrm>
            <a:off x="736600" y="5295900"/>
            <a:ext cx="6438900" cy="635000"/>
          </a:xfrm>
          <a:prstGeom prst="roundRect">
            <a:avLst/>
          </a:prstGeom>
          <a:solidFill>
            <a:srgbClr val="F0F5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CCA220-B706-B515-0851-C7C9C558C02C}"/>
              </a:ext>
            </a:extLst>
          </p:cNvPr>
          <p:cNvSpPr txBox="1"/>
          <p:nvPr/>
        </p:nvSpPr>
        <p:spPr>
          <a:xfrm>
            <a:off x="863600" y="5384799"/>
            <a:ext cx="62230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④ 실제 탐색</a:t>
            </a:r>
            <a:r>
              <a:rPr lang="en-US" altLang="ko-KR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범위 </a:t>
            </a:r>
            <a:r>
              <a:rPr lang="en-US" altLang="ko-KR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▶ </a:t>
            </a:r>
            <a:r>
              <a:rPr lang="ko-KR" altLang="en-US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문서별 상세
    특징</a:t>
            </a:r>
            <a:r>
              <a:rPr lang="en-US" altLang="ko-KR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 후보 카드 </a:t>
            </a:r>
            <a:r>
              <a:rPr lang="en-US" altLang="ko-KR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▶ </a:t>
            </a:r>
            <a:r>
              <a:rPr lang="ko-KR" altLang="en-US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</a:t>
            </a:r>
            <a:r>
              <a:rPr lang="en-US" altLang="ko-KR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JSON</a:t>
            </a:r>
            <a:endParaRPr lang="ko-KR" altLang="en-US" sz="1200">
              <a:solidFill>
                <a:srgbClr val="1325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F77A8C-4D5A-BFAA-75CF-B4DF8F979881}"/>
              </a:ext>
            </a:extLst>
          </p:cNvPr>
          <p:cNvSpPr txBox="1"/>
          <p:nvPr/>
        </p:nvSpPr>
        <p:spPr>
          <a:xfrm>
            <a:off x="7759700" y="2679699"/>
            <a:ext cx="37465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① 입력과 표시 필터 구분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CD49A8-54E8-2928-3C26-3572E4E46194}"/>
              </a:ext>
            </a:extLst>
          </p:cNvPr>
          <p:cNvSpPr txBox="1"/>
          <p:nvPr/>
        </p:nvSpPr>
        <p:spPr>
          <a:xfrm>
            <a:off x="7759700" y="3352799"/>
            <a:ext cx="37465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② 가짜 퍼센트 대신 실제 건수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ADB315-FD95-443F-9F94-170F81CE267A}"/>
              </a:ext>
            </a:extLst>
          </p:cNvPr>
          <p:cNvSpPr txBox="1"/>
          <p:nvPr/>
        </p:nvSpPr>
        <p:spPr>
          <a:xfrm>
            <a:off x="7759700" y="4127499"/>
            <a:ext cx="37465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③ 긴 안내는 사유별로 접기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1962AF-0120-7701-15EB-E8D9202C54AE}"/>
              </a:ext>
            </a:extLst>
          </p:cNvPr>
          <p:cNvSpPr txBox="1"/>
          <p:nvPr/>
        </p:nvSpPr>
        <p:spPr>
          <a:xfrm>
            <a:off x="7759700" y="4902199"/>
            <a:ext cx="37465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④ 방문</a:t>
            </a:r>
            <a:r>
              <a:rPr lang="en-US" altLang="ko-KR" sz="2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미방문 범위를 명시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11307F-1D69-F84E-F8A3-A9A118965DAF}"/>
              </a:ext>
            </a:extLst>
          </p:cNvPr>
          <p:cNvSpPr txBox="1"/>
          <p:nvPr/>
        </p:nvSpPr>
        <p:spPr>
          <a:xfrm>
            <a:off x="7759700" y="5702299"/>
            <a:ext cx="3746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설계도이며 실제 실행 캡처가 아닙니다</a:t>
            </a:r>
            <a:r>
              <a:rPr lang="en-US" altLang="ko-KR" sz="12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2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7366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FF6C841-4FFE-C7C9-BBE3-1391D3CA0548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CA9051-0A7E-2FD9-EA04-52795D9824E5}"/>
              </a:ext>
            </a:extLst>
          </p:cNvPr>
          <p:cNvSpPr txBox="1"/>
          <p:nvPr/>
        </p:nvSpPr>
        <p:spPr>
          <a:xfrm>
            <a:off x="558800" y="317500"/>
            <a:ext cx="10541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1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  </a:t>
            </a:r>
            <a:r>
              <a:rPr lang="ko-KR" altLang="en-US" sz="11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흐름과 화면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E346E6-1EB0-7DEF-EEBF-B8D70DE199F8}"/>
              </a:ext>
            </a:extLst>
          </p:cNvPr>
          <p:cNvSpPr txBox="1"/>
          <p:nvPr/>
        </p:nvSpPr>
        <p:spPr>
          <a:xfrm>
            <a:off x="558800" y="723899"/>
            <a:ext cx="110744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이력</a:t>
            </a:r>
            <a:r>
              <a:rPr lang="en-US" altLang="ko-KR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후보 검토 화면 설계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20E9C7-B1AC-511E-E8DA-8E05CF6C98CF}"/>
              </a:ext>
            </a:extLst>
          </p:cNvPr>
          <p:cNvSpPr txBox="1"/>
          <p:nvPr/>
        </p:nvSpPr>
        <p:spPr>
          <a:xfrm>
            <a:off x="558800" y="1460499"/>
            <a:ext cx="11049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결과와 사람이 남긴 판단을 함께 다시 확인합니다</a:t>
            </a:r>
            <a:r>
              <a:rPr lang="en-US" altLang="ko-KR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7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166CF83-0D71-B323-2B1A-3090B078BE25}"/>
              </a:ext>
            </a:extLst>
          </p:cNvPr>
          <p:cNvSpPr/>
          <p:nvPr/>
        </p:nvSpPr>
        <p:spPr>
          <a:xfrm>
            <a:off x="558800" y="6362700"/>
            <a:ext cx="11074400" cy="12700"/>
          </a:xfrm>
          <a:prstGeom prst="rect">
            <a:avLst/>
          </a:prstGeom>
          <a:solidFill>
            <a:srgbClr val="DAE2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A70C9B-2A81-F70D-25F7-027016059197}"/>
              </a:ext>
            </a:extLst>
          </p:cNvPr>
          <p:cNvSpPr txBox="1"/>
          <p:nvPr/>
        </p:nvSpPr>
        <p:spPr>
          <a:xfrm>
            <a:off x="558800" y="6527800"/>
            <a:ext cx="10414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공공 웹사이트 불법광고 탐지 도구 프로젝트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E9D9E0-C14C-DC43-3A3E-C405360EB5A1}"/>
              </a:ext>
            </a:extLst>
          </p:cNvPr>
          <p:cNvSpPr txBox="1"/>
          <p:nvPr/>
        </p:nvSpPr>
        <p:spPr>
          <a:xfrm>
            <a:off x="10998200" y="6477000"/>
            <a:ext cx="635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11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 / 15</a:t>
            </a:r>
            <a:endParaRPr lang="ko-KR" altLang="en-US" sz="11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69F06E4-79D6-6CA1-65CA-2C3BAA7E1589}"/>
              </a:ext>
            </a:extLst>
          </p:cNvPr>
          <p:cNvSpPr/>
          <p:nvPr/>
        </p:nvSpPr>
        <p:spPr>
          <a:xfrm>
            <a:off x="558800" y="2108200"/>
            <a:ext cx="1778000" cy="381000"/>
          </a:xfrm>
          <a:prstGeom prst="roundRect">
            <a:avLst/>
          </a:prstGeom>
          <a:solidFill>
            <a:srgbClr val="F0F5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1DE9F0-3F3F-C327-21A2-26CDF3ED01DF}"/>
              </a:ext>
            </a:extLst>
          </p:cNvPr>
          <p:cNvSpPr txBox="1"/>
          <p:nvPr/>
        </p:nvSpPr>
        <p:spPr>
          <a:xfrm>
            <a:off x="660400" y="2171699"/>
            <a:ext cx="1574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화면설계도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435CCDE-8378-C215-3EAE-9ED081BF6622}"/>
              </a:ext>
            </a:extLst>
          </p:cNvPr>
          <p:cNvSpPr/>
          <p:nvPr/>
        </p:nvSpPr>
        <p:spPr>
          <a:xfrm>
            <a:off x="558800" y="2628900"/>
            <a:ext cx="6794500" cy="3492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981379-8731-FFB3-5C59-CA481CF94CBB}"/>
              </a:ext>
            </a:extLst>
          </p:cNvPr>
          <p:cNvSpPr txBox="1"/>
          <p:nvPr/>
        </p:nvSpPr>
        <p:spPr>
          <a:xfrm>
            <a:off x="736600" y="2755899"/>
            <a:ext cx="6350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이력</a:t>
            </a:r>
            <a:r>
              <a:rPr lang="en-US" altLang="ko-KR" sz="15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5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후보 검토    </a:t>
            </a:r>
            <a:r>
              <a:rPr lang="en-US" altLang="ko-KR" sz="15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  [</a:t>
            </a:r>
            <a:r>
              <a:rPr lang="ko-KR" altLang="en-US" sz="15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탐지 화면으로</a:t>
            </a:r>
            <a:r>
              <a:rPr lang="en-US" altLang="ko-KR" sz="15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500" b="1">
              <a:solidFill>
                <a:srgbClr val="1325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BBC457F-A1C8-A2D3-3577-42F73A3D42A1}"/>
              </a:ext>
            </a:extLst>
          </p:cNvPr>
          <p:cNvSpPr/>
          <p:nvPr/>
        </p:nvSpPr>
        <p:spPr>
          <a:xfrm>
            <a:off x="736600" y="3187700"/>
            <a:ext cx="6438900" cy="825500"/>
          </a:xfrm>
          <a:prstGeom prst="roundRect">
            <a:avLst/>
          </a:prstGeom>
          <a:solidFill>
            <a:srgbClr val="F0F5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DEFFD4-0AE0-C5CB-7F53-60D82C9AE1DD}"/>
              </a:ext>
            </a:extLst>
          </p:cNvPr>
          <p:cNvSpPr txBox="1"/>
          <p:nvPr/>
        </p:nvSpPr>
        <p:spPr>
          <a:xfrm>
            <a:off x="876300" y="3276599"/>
            <a:ext cx="61595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목록</a:t>
            </a:r>
            <a:r>
              <a:rPr lang="en-US" altLang="ko-KR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 시각</a:t>
            </a:r>
            <a:r>
              <a:rPr lang="en-US" altLang="ko-KR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모드</a:t>
            </a:r>
            <a:r>
              <a:rPr lang="en-US" altLang="ko-KR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후보 수 </a:t>
            </a:r>
            <a:r>
              <a:rPr lang="en-US" altLang="ko-KR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[URL </a:t>
            </a:r>
            <a:r>
              <a:rPr lang="ko-KR" altLang="en-US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  <a:r>
              <a:rPr lang="en-US" altLang="ko-KR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
[</a:t>
            </a:r>
            <a:r>
              <a:rPr lang="ko-KR" altLang="en-US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이력 새로고침</a:t>
            </a:r>
            <a:r>
              <a:rPr lang="en-US" altLang="ko-KR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                         [</a:t>
            </a:r>
            <a:r>
              <a:rPr lang="ko-KR" altLang="en-US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이전</a:t>
            </a:r>
            <a:r>
              <a:rPr lang="en-US" altLang="ko-KR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 [</a:t>
            </a:r>
            <a:r>
              <a:rPr lang="ko-KR" altLang="en-US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다음</a:t>
            </a:r>
            <a:r>
              <a:rPr lang="en-US" altLang="ko-KR" sz="12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200">
              <a:solidFill>
                <a:srgbClr val="1325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4CC89E7-360A-F50B-C2A4-F0FC026049C9}"/>
              </a:ext>
            </a:extLst>
          </p:cNvPr>
          <p:cNvSpPr/>
          <p:nvPr/>
        </p:nvSpPr>
        <p:spPr>
          <a:xfrm>
            <a:off x="736600" y="4165600"/>
            <a:ext cx="6438900" cy="1752600"/>
          </a:xfrm>
          <a:prstGeom prst="roundRect">
            <a:avLst/>
          </a:prstGeom>
          <a:solidFill>
            <a:srgbClr val="F0F5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74B561-BA70-60B4-3D44-AF5737AD4335}"/>
              </a:ext>
            </a:extLst>
          </p:cNvPr>
          <p:cNvSpPr txBox="1"/>
          <p:nvPr/>
        </p:nvSpPr>
        <p:spPr>
          <a:xfrm>
            <a:off x="876300" y="4305299"/>
            <a:ext cx="6159500" cy="151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선택한 분석 상세</a:t>
            </a:r>
            <a:r>
              <a:rPr lang="en-US" altLang="ko-KR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URL·</a:t>
            </a:r>
            <a:r>
              <a:rPr lang="ko-KR" altLang="en-US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규칙 버전</a:t>
            </a:r>
            <a:r>
              <a:rPr lang="en-US" altLang="ko-KR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안내
후보</a:t>
            </a:r>
            <a:r>
              <a:rPr lang="en-US" altLang="ko-KR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기법</a:t>
            </a:r>
            <a:r>
              <a:rPr lang="en-US" altLang="ko-KR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범주</a:t>
            </a:r>
            <a:r>
              <a:rPr lang="en-US" altLang="ko-KR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원문</a:t>
            </a:r>
            <a:r>
              <a:rPr lang="en-US" altLang="ko-KR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페이지</a:t>
            </a:r>
            <a:r>
              <a:rPr lang="en-US" altLang="ko-KR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위치
기존 검토</a:t>
            </a:r>
            <a:r>
              <a:rPr lang="en-US" altLang="ko-KR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시각</a:t>
            </a:r>
            <a:r>
              <a:rPr lang="en-US" altLang="ko-KR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검토자</a:t>
            </a:r>
            <a:r>
              <a:rPr lang="en-US" altLang="ko-KR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판단</a:t>
            </a:r>
            <a:r>
              <a:rPr lang="en-US" altLang="ko-KR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이유
</a:t>
            </a:r>
            <a:r>
              <a:rPr lang="en-US" altLang="ko-KR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홍보</a:t>
            </a:r>
            <a:r>
              <a:rPr lang="en-US" altLang="ko-KR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</a:t>
            </a:r>
            <a:r>
              <a:rPr lang="en-US" altLang="ko-KR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보류</a:t>
            </a:r>
            <a:r>
              <a:rPr lang="en-US" altLang="ko-KR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 [</a:t>
            </a:r>
            <a:r>
              <a:rPr lang="ko-KR" altLang="en-US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검토자</a:t>
            </a:r>
            <a:r>
              <a:rPr lang="en-US" altLang="ko-KR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 [</a:t>
            </a:r>
            <a:r>
              <a:rPr lang="ko-KR" altLang="en-US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판단 이유</a:t>
            </a:r>
            <a:r>
              <a:rPr lang="en-US" altLang="ko-KR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
[</a:t>
            </a:r>
            <a:r>
              <a:rPr lang="ko-KR" altLang="en-US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검토 기록 추가</a:t>
            </a:r>
            <a:r>
              <a:rPr lang="en-US" altLang="ko-KR" sz="13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300">
              <a:solidFill>
                <a:srgbClr val="1325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F7244B-83B4-F543-AC81-51614612F6B6}"/>
              </a:ext>
            </a:extLst>
          </p:cNvPr>
          <p:cNvSpPr txBox="1"/>
          <p:nvPr/>
        </p:nvSpPr>
        <p:spPr>
          <a:xfrm>
            <a:off x="7759700" y="2679699"/>
            <a:ext cx="37465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 → 같은 화면의 상세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55DDAB-2D80-C532-5BD5-7F3E6A1671A9}"/>
              </a:ext>
            </a:extLst>
          </p:cNvPr>
          <p:cNvSpPr txBox="1"/>
          <p:nvPr/>
        </p:nvSpPr>
        <p:spPr>
          <a:xfrm>
            <a:off x="7759700" y="3517899"/>
            <a:ext cx="37465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원문</a:t>
            </a:r>
            <a:r>
              <a:rPr lang="en-US" altLang="ko-KR" sz="20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0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위치와
기존 검토를 함께 확인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4C39F5-2F70-367B-39B2-6DEC423A8B73}"/>
              </a:ext>
            </a:extLst>
          </p:cNvPr>
          <p:cNvSpPr txBox="1"/>
          <p:nvPr/>
        </p:nvSpPr>
        <p:spPr>
          <a:xfrm>
            <a:off x="7759700" y="4483099"/>
            <a:ext cx="37465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0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검토자</a:t>
            </a:r>
            <a:r>
              <a:rPr lang="en-US" altLang="ko-KR" sz="20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0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이유 필수 입력
기록을 덮어쓰지 않고 추가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EB6FE6-24C6-0BCE-3BA2-92846C6A6514}"/>
              </a:ext>
            </a:extLst>
          </p:cNvPr>
          <p:cNvSpPr txBox="1"/>
          <p:nvPr/>
        </p:nvSpPr>
        <p:spPr>
          <a:xfrm>
            <a:off x="7759700" y="5613399"/>
            <a:ext cx="37465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</a:t>
            </a:r>
            <a:r>
              <a:rPr lang="en-US" altLang="ko-KR" sz="12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  <a:r>
              <a:rPr lang="en-US" altLang="ko-KR" sz="12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제출 승인 기능은 없음</a:t>
            </a:r>
          </a:p>
        </p:txBody>
      </p:sp>
    </p:spTree>
    <p:extLst>
      <p:ext uri="{BB962C8B-B14F-4D97-AF65-F5344CB8AC3E}">
        <p14:creationId xmlns:p14="http://schemas.microsoft.com/office/powerpoint/2010/main" val="3897660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9D2B3D6-8252-EE7E-A8C8-3827D74C76A9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97BDF3-8A4A-A56F-2165-66553AFF7D83}"/>
              </a:ext>
            </a:extLst>
          </p:cNvPr>
          <p:cNvSpPr txBox="1"/>
          <p:nvPr/>
        </p:nvSpPr>
        <p:spPr>
          <a:xfrm>
            <a:off x="558800" y="317500"/>
            <a:ext cx="10541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1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  </a:t>
            </a:r>
            <a:r>
              <a:rPr lang="ko-KR" altLang="en-US" sz="11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 기능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2CD7E1-8211-B126-44DC-57033A844147}"/>
              </a:ext>
            </a:extLst>
          </p:cNvPr>
          <p:cNvSpPr txBox="1"/>
          <p:nvPr/>
        </p:nvSpPr>
        <p:spPr>
          <a:xfrm>
            <a:off x="558800" y="723899"/>
            <a:ext cx="110744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탐색 기능 </a:t>
            </a:r>
            <a:r>
              <a:rPr lang="en-US" altLang="ko-KR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</a:t>
            </a:r>
            <a:r>
              <a:rPr lang="en-US" altLang="ko-KR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동적 분석과 범위 제어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C332B0-C7F2-953F-4D30-4D10F6D55B22}"/>
              </a:ext>
            </a:extLst>
          </p:cNvPr>
          <p:cNvSpPr txBox="1"/>
          <p:nvPr/>
        </p:nvSpPr>
        <p:spPr>
          <a:xfrm>
            <a:off x="558800" y="1460499"/>
            <a:ext cx="11049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페이지 특성에 따라 수집 방식을 선택하고 탐색 범위를 조절합니다</a:t>
            </a:r>
            <a:r>
              <a:rPr lang="en-US" altLang="ko-KR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7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185D0B5-6761-9F8D-4434-C1F0F3EE8C70}"/>
              </a:ext>
            </a:extLst>
          </p:cNvPr>
          <p:cNvSpPr/>
          <p:nvPr/>
        </p:nvSpPr>
        <p:spPr>
          <a:xfrm>
            <a:off x="558800" y="6362700"/>
            <a:ext cx="11074400" cy="12700"/>
          </a:xfrm>
          <a:prstGeom prst="rect">
            <a:avLst/>
          </a:prstGeom>
          <a:solidFill>
            <a:srgbClr val="DAE2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743A76-7AC2-0E07-8A91-D7D8252F2999}"/>
              </a:ext>
            </a:extLst>
          </p:cNvPr>
          <p:cNvSpPr txBox="1"/>
          <p:nvPr/>
        </p:nvSpPr>
        <p:spPr>
          <a:xfrm>
            <a:off x="558800" y="6527800"/>
            <a:ext cx="10414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공공 웹사이트 불법광고 탐지 도구 프로젝트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3BB21C-1CCF-3618-CDE0-48B4E461ABD8}"/>
              </a:ext>
            </a:extLst>
          </p:cNvPr>
          <p:cNvSpPr txBox="1"/>
          <p:nvPr/>
        </p:nvSpPr>
        <p:spPr>
          <a:xfrm>
            <a:off x="10998200" y="6477000"/>
            <a:ext cx="635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11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 / 15</a:t>
            </a:r>
            <a:endParaRPr lang="ko-KR" altLang="en-US" sz="11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5F397F0-D81E-7431-2D29-B1788902EA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639423"/>
              </p:ext>
            </p:extLst>
          </p:nvPr>
        </p:nvGraphicFramePr>
        <p:xfrm>
          <a:off x="558800" y="2209800"/>
          <a:ext cx="11074400" cy="2730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160">
                  <a:extLst>
                    <a:ext uri="{9D8B030D-6E8A-4147-A177-3AD203B41FA5}">
                      <a16:colId xmlns:a16="http://schemas.microsoft.com/office/drawing/2014/main" val="3087853013"/>
                    </a:ext>
                  </a:extLst>
                </a:gridCol>
                <a:gridCol w="4208272">
                  <a:extLst>
                    <a:ext uri="{9D8B030D-6E8A-4147-A177-3AD203B41FA5}">
                      <a16:colId xmlns:a16="http://schemas.microsoft.com/office/drawing/2014/main" val="1352738291"/>
                    </a:ext>
                  </a:extLst>
                </a:gridCol>
                <a:gridCol w="5204968">
                  <a:extLst>
                    <a:ext uri="{9D8B030D-6E8A-4147-A177-3AD203B41FA5}">
                      <a16:colId xmlns:a16="http://schemas.microsoft.com/office/drawing/2014/main" val="2133045476"/>
                    </a:ext>
                  </a:extLst>
                </a:gridCol>
              </a:tblGrid>
              <a:tr h="68262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152400" marR="127000" marT="101600" marB="76200" anchor="ctr">
                    <a:solidFill>
                      <a:srgbClr val="13254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 분석</a:t>
                      </a:r>
                    </a:p>
                  </a:txBody>
                  <a:tcPr marL="152400" marR="127000" marT="101600" marB="76200" anchor="ctr">
                    <a:solidFill>
                      <a:srgbClr val="13254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동적 페이지 분석</a:t>
                      </a:r>
                    </a:p>
                  </a:txBody>
                  <a:tcPr marL="152400" marR="127000" marT="101600" marB="76200" anchor="ctr">
                    <a:solidFill>
                      <a:srgbClr val="1325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533831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읽는 대상</a:t>
                      </a:r>
                    </a:p>
                  </a:txBody>
                  <a:tcPr marL="152400" marR="127000" marT="101600" marB="7620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HTTP 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응답 </a:t>
                      </a:r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HTML</a:t>
                      </a:r>
                      <a:endParaRPr lang="ko-KR" altLang="en-US" sz="1700" b="0">
                        <a:solidFill>
                          <a:srgbClr val="13254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27000" marT="101600" marB="7620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JS 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 후 </a:t>
                      </a:r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DOM·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계산 스타일</a:t>
                      </a:r>
                    </a:p>
                  </a:txBody>
                  <a:tcPr marL="152400" marR="127000" marT="101600" marB="76200" anchor="ctr"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612509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활용</a:t>
                      </a:r>
                    </a:p>
                  </a:txBody>
                  <a:tcPr marL="152400" marR="127000" marT="1016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HTML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있는 본문</a:t>
                      </a:r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링크</a:t>
                      </a:r>
                    </a:p>
                  </a:txBody>
                  <a:tcPr marL="152400" marR="127000" marT="1016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JS 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 본문</a:t>
                      </a:r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댓글</a:t>
                      </a:r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 상태</a:t>
                      </a:r>
                    </a:p>
                  </a:txBody>
                  <a:tcPr marL="152400" marR="127000" marT="1016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04870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유의점</a:t>
                      </a:r>
                    </a:p>
                  </a:txBody>
                  <a:tcPr marL="152400" marR="127000" marT="101600" marB="7620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JS 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 내용이 없을 수 있음</a:t>
                      </a:r>
                    </a:p>
                  </a:txBody>
                  <a:tcPr marL="152400" marR="127000" marT="101600" marB="7620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대기</a:t>
                      </a:r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자원 소모</a:t>
                      </a:r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클릭 이후 내용 제한</a:t>
                      </a:r>
                    </a:p>
                  </a:txBody>
                  <a:tcPr marL="152400" marR="127000" marT="101600" marB="76200" anchor="ctr"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219045"/>
                  </a:ext>
                </a:extLst>
              </a:tr>
            </a:tbl>
          </a:graphicData>
        </a:graphic>
      </p:graphicFrame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D9F8677-AE11-0A78-86C1-EC33C6ADC7FE}"/>
              </a:ext>
            </a:extLst>
          </p:cNvPr>
          <p:cNvSpPr/>
          <p:nvPr/>
        </p:nvSpPr>
        <p:spPr>
          <a:xfrm>
            <a:off x="558800" y="5219700"/>
            <a:ext cx="3429000" cy="381000"/>
          </a:xfrm>
          <a:prstGeom prst="roundRect">
            <a:avLst/>
          </a:prstGeom>
          <a:solidFill>
            <a:srgbClr val="F0F5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AA40C7-3F12-EBC9-B9B1-DF02DEEA54FC}"/>
              </a:ext>
            </a:extLst>
          </p:cNvPr>
          <p:cNvSpPr txBox="1"/>
          <p:nvPr/>
        </p:nvSpPr>
        <p:spPr>
          <a:xfrm>
            <a:off x="660400" y="5283199"/>
            <a:ext cx="3225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 </a:t>
            </a:r>
            <a:r>
              <a:rPr lang="en-US" altLang="ko-KR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r>
              <a:rPr lang="ko-KR" altLang="en-US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</a:t>
            </a:r>
            <a:r>
              <a:rPr lang="en-US" altLang="ko-KR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1~1,000</a:t>
            </a:r>
            <a:r>
              <a:rPr lang="ko-KR" altLang="en-US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FF8D251-8D9F-4F05-BCCB-09EB1845AAEB}"/>
              </a:ext>
            </a:extLst>
          </p:cNvPr>
          <p:cNvSpPr/>
          <p:nvPr/>
        </p:nvSpPr>
        <p:spPr>
          <a:xfrm>
            <a:off x="4381500" y="5219700"/>
            <a:ext cx="3429000" cy="381000"/>
          </a:xfrm>
          <a:prstGeom prst="roundRect">
            <a:avLst/>
          </a:prstGeom>
          <a:solidFill>
            <a:srgbClr val="F0F5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3E1196-BC28-6F0B-34DF-826E8686CF34}"/>
              </a:ext>
            </a:extLst>
          </p:cNvPr>
          <p:cNvSpPr txBox="1"/>
          <p:nvPr/>
        </p:nvSpPr>
        <p:spPr>
          <a:xfrm>
            <a:off x="4483100" y="5283199"/>
            <a:ext cx="3225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깊이 </a:t>
            </a:r>
            <a:r>
              <a:rPr lang="en-US" altLang="ko-KR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 </a:t>
            </a:r>
            <a:r>
              <a:rPr lang="en-US" altLang="ko-KR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0~20</a:t>
            </a:r>
            <a:r>
              <a:rPr lang="ko-KR" altLang="en-US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EEF722B-B663-484B-FC77-6D04A10AAC6E}"/>
              </a:ext>
            </a:extLst>
          </p:cNvPr>
          <p:cNvSpPr/>
          <p:nvPr/>
        </p:nvSpPr>
        <p:spPr>
          <a:xfrm>
            <a:off x="8204200" y="5219700"/>
            <a:ext cx="3429000" cy="381000"/>
          </a:xfrm>
          <a:prstGeom prst="roundRect">
            <a:avLst/>
          </a:prstGeom>
          <a:solidFill>
            <a:srgbClr val="F0F5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EB6816-415D-D7F7-CABB-CBB85FB2BA27}"/>
              </a:ext>
            </a:extLst>
          </p:cNvPr>
          <p:cNvSpPr txBox="1"/>
          <p:nvPr/>
        </p:nvSpPr>
        <p:spPr>
          <a:xfrm>
            <a:off x="8305800" y="5283199"/>
            <a:ext cx="3225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 </a:t>
            </a:r>
            <a:r>
              <a:rPr lang="en-US" altLang="ko-KR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r>
            <a:r>
              <a:rPr lang="ko-KR" altLang="en-US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 </a:t>
            </a:r>
            <a:r>
              <a:rPr lang="en-US" altLang="ko-KR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1~30</a:t>
            </a:r>
            <a:r>
              <a:rPr lang="ko-KR" altLang="en-US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8D860E-B93C-DCF7-B333-313F0E88A4B3}"/>
              </a:ext>
            </a:extLst>
          </p:cNvPr>
          <p:cNvSpPr txBox="1"/>
          <p:nvPr/>
        </p:nvSpPr>
        <p:spPr>
          <a:xfrm>
            <a:off x="558800" y="5791199"/>
            <a:ext cx="110744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게시판</a:t>
            </a:r>
            <a:r>
              <a:rPr lang="en-US" altLang="ko-KR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게시글 우선 탐색  </a:t>
            </a:r>
            <a:r>
              <a:rPr lang="en-US" altLang="ko-KR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</a:t>
            </a:r>
            <a:r>
              <a:rPr lang="ko-KR" altLang="en-US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숫자는 변경 가능한 시험 기본값</a:t>
            </a:r>
          </a:p>
        </p:txBody>
      </p:sp>
    </p:spTree>
    <p:extLst>
      <p:ext uri="{BB962C8B-B14F-4D97-AF65-F5344CB8AC3E}">
        <p14:creationId xmlns:p14="http://schemas.microsoft.com/office/powerpoint/2010/main" val="1267893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F062EB0-5D81-869A-21D6-239566AB8CFC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34966A-303E-A5E6-0FF9-CF4051A85601}"/>
              </a:ext>
            </a:extLst>
          </p:cNvPr>
          <p:cNvSpPr txBox="1"/>
          <p:nvPr/>
        </p:nvSpPr>
        <p:spPr>
          <a:xfrm>
            <a:off x="558800" y="317500"/>
            <a:ext cx="10541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1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  </a:t>
            </a:r>
            <a:r>
              <a:rPr lang="ko-KR" altLang="en-US" sz="11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 기능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8A6240-73ED-A023-7A95-A4AC83FF0F02}"/>
              </a:ext>
            </a:extLst>
          </p:cNvPr>
          <p:cNvSpPr txBox="1"/>
          <p:nvPr/>
        </p:nvSpPr>
        <p:spPr>
          <a:xfrm>
            <a:off x="558800" y="723899"/>
            <a:ext cx="110744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탐지 기능 </a:t>
            </a:r>
            <a:r>
              <a:rPr lang="en-US" altLang="ko-KR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특징</a:t>
            </a:r>
            <a:r>
              <a:rPr lang="en-US" altLang="ko-KR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</a:t>
            </a:r>
            <a:r>
              <a:rPr lang="en-US" altLang="ko-KR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제출 후보의 구분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1A9F12-9DCD-C6FA-C1D6-22532CDE07CF}"/>
              </a:ext>
            </a:extLst>
          </p:cNvPr>
          <p:cNvSpPr txBox="1"/>
          <p:nvPr/>
        </p:nvSpPr>
        <p:spPr>
          <a:xfrm>
            <a:off x="558800" y="1460499"/>
            <a:ext cx="11049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표현</a:t>
            </a:r>
            <a:r>
              <a:rPr lang="en-US" altLang="ko-KR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은닉 특징을 발견했다고 곧바로 광고로 확정하지 않습니다</a:t>
            </a:r>
            <a:r>
              <a:rPr lang="en-US" altLang="ko-KR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7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7F62AE6-D53F-4E27-1AAA-D64EB0AA284B}"/>
              </a:ext>
            </a:extLst>
          </p:cNvPr>
          <p:cNvSpPr/>
          <p:nvPr/>
        </p:nvSpPr>
        <p:spPr>
          <a:xfrm>
            <a:off x="558800" y="6362700"/>
            <a:ext cx="11074400" cy="12700"/>
          </a:xfrm>
          <a:prstGeom prst="rect">
            <a:avLst/>
          </a:prstGeom>
          <a:solidFill>
            <a:srgbClr val="DAE2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1E220A-939E-9EC0-807B-B474F49E65E9}"/>
              </a:ext>
            </a:extLst>
          </p:cNvPr>
          <p:cNvSpPr txBox="1"/>
          <p:nvPr/>
        </p:nvSpPr>
        <p:spPr>
          <a:xfrm>
            <a:off x="558800" y="6527800"/>
            <a:ext cx="10414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공공 웹사이트 불법광고 탐지 도구 프로젝트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9B0B99-3688-BC6C-7EAE-734AB8A94EC5}"/>
              </a:ext>
            </a:extLst>
          </p:cNvPr>
          <p:cNvSpPr txBox="1"/>
          <p:nvPr/>
        </p:nvSpPr>
        <p:spPr>
          <a:xfrm>
            <a:off x="10998200" y="6477000"/>
            <a:ext cx="635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11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 / 15</a:t>
            </a:r>
            <a:endParaRPr lang="ko-KR" altLang="en-US" sz="11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44EECFF-0D27-C55D-D5CE-E0F45137A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531496"/>
              </p:ext>
            </p:extLst>
          </p:nvPr>
        </p:nvGraphicFramePr>
        <p:xfrm>
          <a:off x="558800" y="2247900"/>
          <a:ext cx="5308600" cy="3517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1956">
                  <a:extLst>
                    <a:ext uri="{9D8B030D-6E8A-4147-A177-3AD203B41FA5}">
                      <a16:colId xmlns:a16="http://schemas.microsoft.com/office/drawing/2014/main" val="2878558542"/>
                    </a:ext>
                  </a:extLst>
                </a:gridCol>
                <a:gridCol w="2866644">
                  <a:extLst>
                    <a:ext uri="{9D8B030D-6E8A-4147-A177-3AD203B41FA5}">
                      <a16:colId xmlns:a16="http://schemas.microsoft.com/office/drawing/2014/main" val="3393676476"/>
                    </a:ext>
                  </a:extLst>
                </a:gridCol>
              </a:tblGrid>
              <a:tr h="7035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 특징</a:t>
                      </a:r>
                    </a:p>
                  </a:txBody>
                  <a:tcPr marL="152400" marR="127000" marT="101600" marB="76200" anchor="ctr">
                    <a:solidFill>
                      <a:srgbClr val="13254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분석 관점</a:t>
                      </a:r>
                    </a:p>
                  </a:txBody>
                  <a:tcPr marL="152400" marR="127000" marT="101600" marB="76200" anchor="ctr">
                    <a:solidFill>
                      <a:srgbClr val="1325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082165"/>
                  </a:ext>
                </a:extLst>
              </a:tr>
              <a:tr h="7035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HOMOGLYPH</a:t>
                      </a:r>
                      <a:endParaRPr lang="ko-KR" altLang="en-US" sz="1700" b="0">
                        <a:solidFill>
                          <a:srgbClr val="13254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27000" marT="101600" marB="7620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닮은꼴 문자</a:t>
                      </a:r>
                    </a:p>
                  </a:txBody>
                  <a:tcPr marL="152400" marR="127000" marT="101600" marB="76200" anchor="ctr"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59797"/>
                  </a:ext>
                </a:extLst>
              </a:tr>
              <a:tr h="7035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JAMO</a:t>
                      </a:r>
                      <a:endParaRPr lang="ko-KR" altLang="en-US" sz="1700" b="0">
                        <a:solidFill>
                          <a:srgbClr val="13254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27000" marT="1016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분리된 한글 자모</a:t>
                      </a:r>
                    </a:p>
                  </a:txBody>
                  <a:tcPr marL="152400" marR="127000" marT="1016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169082"/>
                  </a:ext>
                </a:extLst>
              </a:tr>
              <a:tr h="7035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TRANSPARENT</a:t>
                      </a:r>
                      <a:endParaRPr lang="ko-KR" altLang="en-US" sz="1700" b="0">
                        <a:solidFill>
                          <a:srgbClr val="13254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27000" marT="101600" marB="7620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투명도</a:t>
                      </a:r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글자색</a:t>
                      </a:r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배경</a:t>
                      </a:r>
                    </a:p>
                  </a:txBody>
                  <a:tcPr marL="152400" marR="127000" marT="101600" marB="76200" anchor="ctr"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466579"/>
                  </a:ext>
                </a:extLst>
              </a:tr>
              <a:tr h="7035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OFFSCREEN</a:t>
                      </a:r>
                      <a:endParaRPr lang="ko-KR" altLang="en-US" sz="1700" b="0">
                        <a:solidFill>
                          <a:srgbClr val="13254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27000" marT="1016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작은 글꼴</a:t>
                      </a:r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숨김</a:t>
                      </a:r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음수 배치</a:t>
                      </a:r>
                    </a:p>
                  </a:txBody>
                  <a:tcPr marL="152400" marR="127000" marT="1016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938040"/>
                  </a:ext>
                </a:extLst>
              </a:tr>
            </a:tbl>
          </a:graphicData>
        </a:graphic>
      </p:graphicFrame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A600A70-3F67-2205-53D0-E173D39281E9}"/>
              </a:ext>
            </a:extLst>
          </p:cNvPr>
          <p:cNvSpPr/>
          <p:nvPr/>
        </p:nvSpPr>
        <p:spPr>
          <a:xfrm>
            <a:off x="6362700" y="2247900"/>
            <a:ext cx="5270500" cy="93980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AE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E68523-4C04-6D89-8FBC-B2A6B114D07F}"/>
              </a:ext>
            </a:extLst>
          </p:cNvPr>
          <p:cNvSpPr txBox="1"/>
          <p:nvPr/>
        </p:nvSpPr>
        <p:spPr>
          <a:xfrm>
            <a:off x="6489700" y="2400299"/>
            <a:ext cx="50165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9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특징 </a:t>
            </a:r>
            <a:r>
              <a:rPr lang="en-US" altLang="ko-KR" sz="19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19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홍보 문맥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FAA658-E1AF-5BB5-EF42-0B51B1D5872A}"/>
              </a:ext>
            </a:extLst>
          </p:cNvPr>
          <p:cNvSpPr txBox="1"/>
          <p:nvPr/>
        </p:nvSpPr>
        <p:spPr>
          <a:xfrm>
            <a:off x="6489700" y="2844799"/>
            <a:ext cx="5016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도박</a:t>
            </a:r>
            <a:r>
              <a:rPr lang="en-US" altLang="ko-KR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성인물 주제와 유도 표현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E882041-CCC5-528D-B716-0848D9E5064D}"/>
              </a:ext>
            </a:extLst>
          </p:cNvPr>
          <p:cNvCxnSpPr/>
          <p:nvPr/>
        </p:nvCxnSpPr>
        <p:spPr>
          <a:xfrm>
            <a:off x="8978900" y="3238500"/>
            <a:ext cx="0" cy="215900"/>
          </a:xfrm>
          <a:prstGeom prst="line">
            <a:avLst/>
          </a:prstGeom>
          <a:ln w="25400">
            <a:solidFill>
              <a:srgbClr val="2563E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1F90EAF-D432-47D1-0304-E04C5EF80A8F}"/>
              </a:ext>
            </a:extLst>
          </p:cNvPr>
          <p:cNvSpPr/>
          <p:nvPr/>
        </p:nvSpPr>
        <p:spPr>
          <a:xfrm>
            <a:off x="6362700" y="3543300"/>
            <a:ext cx="5270500" cy="93980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AE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9F14A8-8EAB-C0D9-50B7-A701E4A333E1}"/>
              </a:ext>
            </a:extLst>
          </p:cNvPr>
          <p:cNvSpPr txBox="1"/>
          <p:nvPr/>
        </p:nvSpPr>
        <p:spPr>
          <a:xfrm>
            <a:off x="6489700" y="3695699"/>
            <a:ext cx="50165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9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관련 원문 구간 확인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D54A0B-BFFD-808F-DF64-35AB523A6321}"/>
              </a:ext>
            </a:extLst>
          </p:cNvPr>
          <p:cNvSpPr txBox="1"/>
          <p:nvPr/>
        </p:nvSpPr>
        <p:spPr>
          <a:xfrm>
            <a:off x="6489700" y="4140199"/>
            <a:ext cx="5016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3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관계 없는 특징은 검토 상태 유지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1BD5B4B-AEC7-D50B-06E1-2FD2E9054B47}"/>
              </a:ext>
            </a:extLst>
          </p:cNvPr>
          <p:cNvCxnSpPr/>
          <p:nvPr/>
        </p:nvCxnSpPr>
        <p:spPr>
          <a:xfrm>
            <a:off x="8978900" y="4546600"/>
            <a:ext cx="0" cy="215900"/>
          </a:xfrm>
          <a:prstGeom prst="line">
            <a:avLst/>
          </a:prstGeom>
          <a:ln w="25400">
            <a:solidFill>
              <a:srgbClr val="2563E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F7487D9-9D1F-532B-96E5-C258FACEA409}"/>
              </a:ext>
            </a:extLst>
          </p:cNvPr>
          <p:cNvSpPr/>
          <p:nvPr/>
        </p:nvSpPr>
        <p:spPr>
          <a:xfrm>
            <a:off x="6362700" y="4889500"/>
            <a:ext cx="2501900" cy="381000"/>
          </a:xfrm>
          <a:prstGeom prst="roundRect">
            <a:avLst/>
          </a:prstGeom>
          <a:solidFill>
            <a:srgbClr val="F0F5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F50FD0-0D0B-5DB2-CFC3-C35ADA2FC8FB}"/>
              </a:ext>
            </a:extLst>
          </p:cNvPr>
          <p:cNvSpPr txBox="1"/>
          <p:nvPr/>
        </p:nvSpPr>
        <p:spPr>
          <a:xfrm>
            <a:off x="6464300" y="4952999"/>
            <a:ext cx="22987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 제출 후보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9BCD53B-3002-364D-8C00-B23A48295557}"/>
              </a:ext>
            </a:extLst>
          </p:cNvPr>
          <p:cNvSpPr/>
          <p:nvPr/>
        </p:nvSpPr>
        <p:spPr>
          <a:xfrm>
            <a:off x="9131300" y="4889500"/>
            <a:ext cx="2501900" cy="381000"/>
          </a:xfrm>
          <a:prstGeom prst="roundRect">
            <a:avLst/>
          </a:prstGeom>
          <a:solidFill>
            <a:srgbClr val="FFF8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344322-3579-1CF0-5737-139FB5DCC0D0}"/>
              </a:ext>
            </a:extLst>
          </p:cNvPr>
          <p:cNvSpPr txBox="1"/>
          <p:nvPr/>
        </p:nvSpPr>
        <p:spPr>
          <a:xfrm>
            <a:off x="9232900" y="4952999"/>
            <a:ext cx="22987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200" b="1">
                <a:solidFill>
                  <a:srgbClr val="B4631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검토 필요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F210DC-09B0-AC1D-38DB-01EDFF1292DD}"/>
              </a:ext>
            </a:extLst>
          </p:cNvPr>
          <p:cNvSpPr txBox="1"/>
          <p:nvPr/>
        </p:nvSpPr>
        <p:spPr>
          <a:xfrm>
            <a:off x="6375400" y="5511799"/>
            <a:ext cx="52705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 표시 홍보 → 별도의 추가 후보</a:t>
            </a:r>
          </a:p>
        </p:txBody>
      </p:sp>
    </p:spTree>
    <p:extLst>
      <p:ext uri="{BB962C8B-B14F-4D97-AF65-F5344CB8AC3E}">
        <p14:creationId xmlns:p14="http://schemas.microsoft.com/office/powerpoint/2010/main" val="646184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1F0C7A3-23AF-C906-7D8F-A58D1C7368BB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FB0A0B-6C8E-6A20-9FD6-CFE519C1772D}"/>
              </a:ext>
            </a:extLst>
          </p:cNvPr>
          <p:cNvSpPr txBox="1"/>
          <p:nvPr/>
        </p:nvSpPr>
        <p:spPr>
          <a:xfrm>
            <a:off x="558800" y="317500"/>
            <a:ext cx="10541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1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  </a:t>
            </a:r>
            <a:r>
              <a:rPr lang="ko-KR" altLang="en-US" sz="11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 기능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04CF04-17E3-C871-3541-A7C4B2356F67}"/>
              </a:ext>
            </a:extLst>
          </p:cNvPr>
          <p:cNvSpPr txBox="1"/>
          <p:nvPr/>
        </p:nvSpPr>
        <p:spPr>
          <a:xfrm>
            <a:off x="558800" y="723899"/>
            <a:ext cx="110744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 제공 </a:t>
            </a:r>
            <a:r>
              <a:rPr lang="en-US" altLang="ko-KR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근거</a:t>
            </a:r>
            <a:r>
              <a:rPr lang="en-US" altLang="ko-KR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위치</a:t>
            </a:r>
            <a:r>
              <a:rPr lang="en-US" altLang="ko-KR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범위 보존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6DF925-4E25-BEC0-DA46-B9E63ECAF0F4}"/>
              </a:ext>
            </a:extLst>
          </p:cNvPr>
          <p:cNvSpPr txBox="1"/>
          <p:nvPr/>
        </p:nvSpPr>
        <p:spPr>
          <a:xfrm>
            <a:off x="558800" y="1460499"/>
            <a:ext cx="11049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사람이 다시 확인할 수 있는 원문과 요소 위치를 제공합니다</a:t>
            </a:r>
            <a:r>
              <a:rPr lang="en-US" altLang="ko-KR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7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774D9C9-D155-B2B4-B8B4-4C23972BE634}"/>
              </a:ext>
            </a:extLst>
          </p:cNvPr>
          <p:cNvSpPr/>
          <p:nvPr/>
        </p:nvSpPr>
        <p:spPr>
          <a:xfrm>
            <a:off x="558800" y="6362700"/>
            <a:ext cx="11074400" cy="12700"/>
          </a:xfrm>
          <a:prstGeom prst="rect">
            <a:avLst/>
          </a:prstGeom>
          <a:solidFill>
            <a:srgbClr val="DAE2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EE251E-8405-CE4E-EE58-682639547F0D}"/>
              </a:ext>
            </a:extLst>
          </p:cNvPr>
          <p:cNvSpPr txBox="1"/>
          <p:nvPr/>
        </p:nvSpPr>
        <p:spPr>
          <a:xfrm>
            <a:off x="558800" y="6527800"/>
            <a:ext cx="10414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공공 웹사이트 불법광고 탐지 도구 프로젝트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197BAD-DD2B-E80B-919C-33AAAAD827CD}"/>
              </a:ext>
            </a:extLst>
          </p:cNvPr>
          <p:cNvSpPr txBox="1"/>
          <p:nvPr/>
        </p:nvSpPr>
        <p:spPr>
          <a:xfrm>
            <a:off x="10998200" y="6477000"/>
            <a:ext cx="635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11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 / 15</a:t>
            </a:r>
            <a:endParaRPr lang="ko-KR" altLang="en-US" sz="11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C24EE38-7017-5B5D-7B8E-D50E7869D23E}"/>
              </a:ext>
            </a:extLst>
          </p:cNvPr>
          <p:cNvSpPr/>
          <p:nvPr/>
        </p:nvSpPr>
        <p:spPr>
          <a:xfrm>
            <a:off x="558800" y="2298700"/>
            <a:ext cx="5257800" cy="365760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AE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8DEC796-8D30-3FFB-13E3-B29E5DC91442}"/>
              </a:ext>
            </a:extLst>
          </p:cNvPr>
          <p:cNvSpPr/>
          <p:nvPr/>
        </p:nvSpPr>
        <p:spPr>
          <a:xfrm>
            <a:off x="774700" y="2501900"/>
            <a:ext cx="1651000" cy="381000"/>
          </a:xfrm>
          <a:prstGeom prst="roundRect">
            <a:avLst/>
          </a:prstGeom>
          <a:solidFill>
            <a:srgbClr val="F0F5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F7FD7B-D2B8-3C7A-5E3B-F7B59950A6D3}"/>
              </a:ext>
            </a:extLst>
          </p:cNvPr>
          <p:cNvSpPr txBox="1"/>
          <p:nvPr/>
        </p:nvSpPr>
        <p:spPr>
          <a:xfrm>
            <a:off x="876300" y="2565399"/>
            <a:ext cx="1447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설명용 결과 카드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23782F-C30B-8EC8-8DDE-88C03817418E}"/>
              </a:ext>
            </a:extLst>
          </p:cNvPr>
          <p:cNvSpPr txBox="1"/>
          <p:nvPr/>
        </p:nvSpPr>
        <p:spPr>
          <a:xfrm>
            <a:off x="800100" y="3124199"/>
            <a:ext cx="46990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 </a:t>
            </a:r>
            <a:r>
              <a:rPr lang="en-US" altLang="ko-KR" sz="2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원문 </a:t>
            </a:r>
            <a:r>
              <a:rPr lang="en-US" altLang="ko-KR" sz="2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페이지 </a:t>
            </a:r>
            <a:r>
              <a:rPr lang="en-US" altLang="ko-KR" sz="2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위치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B13A7A-C2DF-171E-3C6F-0B5E61C92BB5}"/>
              </a:ext>
            </a:extLst>
          </p:cNvPr>
          <p:cNvSpPr txBox="1"/>
          <p:nvPr/>
        </p:nvSpPr>
        <p:spPr>
          <a:xfrm>
            <a:off x="800100" y="3784599"/>
            <a:ext cx="46990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9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원문을 보존해 다시 확인
특징과 내용의 관계를 설명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2B7D119-2597-436F-15EB-7DE759024376}"/>
              </a:ext>
            </a:extLst>
          </p:cNvPr>
          <p:cNvSpPr/>
          <p:nvPr/>
        </p:nvSpPr>
        <p:spPr>
          <a:xfrm>
            <a:off x="787400" y="4787900"/>
            <a:ext cx="48006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D836B4-F293-BF81-0610-D0E947B949D0}"/>
              </a:ext>
            </a:extLst>
          </p:cNvPr>
          <p:cNvSpPr txBox="1"/>
          <p:nvPr/>
        </p:nvSpPr>
        <p:spPr>
          <a:xfrm>
            <a:off x="927100" y="4965699"/>
            <a:ext cx="45212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iframe#outer &gt;&gt;&gt; p.notice</a:t>
            </a:r>
            <a:endParaRPr lang="ko-KR" altLang="en-US" sz="1600">
              <a:solidFill>
                <a:srgbClr val="1325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332966-A3B9-3044-FE8D-C38D41913C8F}"/>
              </a:ext>
            </a:extLst>
          </p:cNvPr>
          <p:cNvSpPr txBox="1"/>
          <p:nvPr/>
        </p:nvSpPr>
        <p:spPr>
          <a:xfrm>
            <a:off x="787400" y="5588000"/>
            <a:ext cx="4762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1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선택자는 설명용 예시이며 실제 캡처가 아닙니다</a:t>
            </a:r>
            <a:r>
              <a:rPr lang="en-US" altLang="ko-KR" sz="11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5DA0B73-1E55-A67A-FFC9-79EF27223791}"/>
              </a:ext>
            </a:extLst>
          </p:cNvPr>
          <p:cNvSpPr/>
          <p:nvPr/>
        </p:nvSpPr>
        <p:spPr>
          <a:xfrm>
            <a:off x="6248400" y="2298700"/>
            <a:ext cx="53848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1D239D-12AA-8360-C175-F29B007D7AD1}"/>
              </a:ext>
            </a:extLst>
          </p:cNvPr>
          <p:cNvSpPr txBox="1"/>
          <p:nvPr/>
        </p:nvSpPr>
        <p:spPr>
          <a:xfrm>
            <a:off x="6464300" y="2463799"/>
            <a:ext cx="49276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0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result.json</a:t>
            </a:r>
            <a:endParaRPr lang="ko-KR" altLang="en-US" sz="2000" b="1">
              <a:solidFill>
                <a:srgbClr val="2563E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0C4E69-A024-928A-525A-B4A7E3DF5CE4}"/>
              </a:ext>
            </a:extLst>
          </p:cNvPr>
          <p:cNvSpPr txBox="1"/>
          <p:nvPr/>
        </p:nvSpPr>
        <p:spPr>
          <a:xfrm>
            <a:off x="6464300" y="2946399"/>
            <a:ext cx="49276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선택된 필수 </a:t>
            </a:r>
            <a:r>
              <a:rPr lang="en-US" altLang="ko-KR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 제출 후보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2A2DE5F-126C-3A4D-B7C6-598FDC7D4CD1}"/>
              </a:ext>
            </a:extLst>
          </p:cNvPr>
          <p:cNvSpPr/>
          <p:nvPr/>
        </p:nvSpPr>
        <p:spPr>
          <a:xfrm>
            <a:off x="6248400" y="3581400"/>
            <a:ext cx="53848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F1E462-44DF-6C07-BB4F-F9463F4E15EA}"/>
              </a:ext>
            </a:extLst>
          </p:cNvPr>
          <p:cNvSpPr txBox="1"/>
          <p:nvPr/>
        </p:nvSpPr>
        <p:spPr>
          <a:xfrm>
            <a:off x="6464300" y="3746499"/>
            <a:ext cx="49276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0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result_extra.json</a:t>
            </a:r>
            <a:endParaRPr lang="ko-KR" altLang="en-US" sz="2000" b="1">
              <a:solidFill>
                <a:srgbClr val="2563E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09872E-76F2-8387-93C8-EBF6AC14E8AC}"/>
              </a:ext>
            </a:extLst>
          </p:cNvPr>
          <p:cNvSpPr txBox="1"/>
          <p:nvPr/>
        </p:nvSpPr>
        <p:spPr>
          <a:xfrm>
            <a:off x="6464300" y="4229099"/>
            <a:ext cx="49276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 표시 홍보 등의 추가 결과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D2B23DD-4CAC-12E3-EA48-A7A9F024E0F9}"/>
              </a:ext>
            </a:extLst>
          </p:cNvPr>
          <p:cNvSpPr/>
          <p:nvPr/>
        </p:nvSpPr>
        <p:spPr>
          <a:xfrm>
            <a:off x="6248400" y="4864100"/>
            <a:ext cx="53848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3CE227-4A3F-8E22-A13E-D94044B45F56}"/>
              </a:ext>
            </a:extLst>
          </p:cNvPr>
          <p:cNvSpPr txBox="1"/>
          <p:nvPr/>
        </p:nvSpPr>
        <p:spPr>
          <a:xfrm>
            <a:off x="6464300" y="5029199"/>
            <a:ext cx="49276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0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content-candidates.json</a:t>
            </a:r>
            <a:endParaRPr lang="ko-KR" altLang="en-US" sz="2000" b="1">
              <a:solidFill>
                <a:srgbClr val="2563E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9F4302-5BC2-B291-BFF4-0DC82F83C8F1}"/>
              </a:ext>
            </a:extLst>
          </p:cNvPr>
          <p:cNvSpPr txBox="1"/>
          <p:nvPr/>
        </p:nvSpPr>
        <p:spPr>
          <a:xfrm>
            <a:off x="6464300" y="5511799"/>
            <a:ext cx="49276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검수용 후보</a:t>
            </a:r>
            <a:r>
              <a:rPr lang="en-US" altLang="ko-KR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범위</a:t>
            </a:r>
            <a:r>
              <a:rPr lang="en-US" altLang="ko-KR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원문 안내</a:t>
            </a:r>
          </a:p>
        </p:txBody>
      </p:sp>
    </p:spTree>
    <p:extLst>
      <p:ext uri="{BB962C8B-B14F-4D97-AF65-F5344CB8AC3E}">
        <p14:creationId xmlns:p14="http://schemas.microsoft.com/office/powerpoint/2010/main" val="3344940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2BFDA55-19FD-A2F9-C550-9402CCC24B80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69F352-B4F5-C3F2-B3D1-34BBE109FE5E}"/>
              </a:ext>
            </a:extLst>
          </p:cNvPr>
          <p:cNvSpPr txBox="1"/>
          <p:nvPr/>
        </p:nvSpPr>
        <p:spPr>
          <a:xfrm>
            <a:off x="558800" y="317500"/>
            <a:ext cx="10541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1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  </a:t>
            </a:r>
            <a:r>
              <a:rPr lang="ko-KR" altLang="en-US" sz="11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설계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7DA048-9BEE-71AF-CBBF-D26B779FA725}"/>
              </a:ext>
            </a:extLst>
          </p:cNvPr>
          <p:cNvSpPr txBox="1"/>
          <p:nvPr/>
        </p:nvSpPr>
        <p:spPr>
          <a:xfrm>
            <a:off x="558800" y="723899"/>
            <a:ext cx="110744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ERD — </a:t>
            </a:r>
            <a:r>
              <a:rPr lang="ko-KR" altLang="en-US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</a:t>
            </a:r>
            <a:r>
              <a:rPr lang="en-US" altLang="ko-KR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후보</a:t>
            </a:r>
            <a:r>
              <a:rPr lang="en-US" altLang="ko-KR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검토의 관계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80830F-1EB2-5616-BF2E-6998B321D7AA}"/>
              </a:ext>
            </a:extLst>
          </p:cNvPr>
          <p:cNvSpPr txBox="1"/>
          <p:nvPr/>
        </p:nvSpPr>
        <p:spPr>
          <a:xfrm>
            <a:off x="558800" y="1460499"/>
            <a:ext cx="11049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 분석에 여러 후보</a:t>
            </a:r>
            <a:r>
              <a:rPr lang="en-US" altLang="ko-KR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 후보에 여러 검토 기록을 연결합니다</a:t>
            </a:r>
            <a:r>
              <a:rPr lang="en-US" altLang="ko-KR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7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07BBD24-8F5E-9D07-72C3-CA43976F9F3F}"/>
              </a:ext>
            </a:extLst>
          </p:cNvPr>
          <p:cNvSpPr/>
          <p:nvPr/>
        </p:nvSpPr>
        <p:spPr>
          <a:xfrm>
            <a:off x="558800" y="6362700"/>
            <a:ext cx="11074400" cy="12700"/>
          </a:xfrm>
          <a:prstGeom prst="rect">
            <a:avLst/>
          </a:prstGeom>
          <a:solidFill>
            <a:srgbClr val="DAE2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9163B7-4FD4-63BC-C952-026B97F54CC0}"/>
              </a:ext>
            </a:extLst>
          </p:cNvPr>
          <p:cNvSpPr txBox="1"/>
          <p:nvPr/>
        </p:nvSpPr>
        <p:spPr>
          <a:xfrm>
            <a:off x="558800" y="6527800"/>
            <a:ext cx="10414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공공 웹사이트 불법광고 탐지 도구 프로젝트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F4941B-0E9F-4AE3-AAFD-71FABE274ED0}"/>
              </a:ext>
            </a:extLst>
          </p:cNvPr>
          <p:cNvSpPr txBox="1"/>
          <p:nvPr/>
        </p:nvSpPr>
        <p:spPr>
          <a:xfrm>
            <a:off x="10998200" y="6477000"/>
            <a:ext cx="635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11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 / 15</a:t>
            </a:r>
            <a:endParaRPr lang="ko-KR" altLang="en-US" sz="11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0123621-6D6B-5E20-2B30-B373D10AE49D}"/>
              </a:ext>
            </a:extLst>
          </p:cNvPr>
          <p:cNvSpPr/>
          <p:nvPr/>
        </p:nvSpPr>
        <p:spPr>
          <a:xfrm>
            <a:off x="558800" y="2336800"/>
            <a:ext cx="3302000" cy="3517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A071C7C-56E1-B46D-0B4A-C2CA66F88689}"/>
              </a:ext>
            </a:extLst>
          </p:cNvPr>
          <p:cNvSpPr/>
          <p:nvPr/>
        </p:nvSpPr>
        <p:spPr>
          <a:xfrm>
            <a:off x="558800" y="2336800"/>
            <a:ext cx="3302000" cy="533400"/>
          </a:xfrm>
          <a:prstGeom prst="rect">
            <a:avLst/>
          </a:prstGeom>
          <a:solidFill>
            <a:srgbClr val="13254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56CA50-3008-E5A6-08A3-8E5D115E9304}"/>
              </a:ext>
            </a:extLst>
          </p:cNvPr>
          <p:cNvSpPr txBox="1"/>
          <p:nvPr/>
        </p:nvSpPr>
        <p:spPr>
          <a:xfrm>
            <a:off x="723900" y="2438399"/>
            <a:ext cx="2971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analyses</a:t>
            </a:r>
            <a:endParaRPr lang="ko-KR" altLang="en-US" sz="23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9A1111-5529-8B36-1372-0007D9764C5D}"/>
              </a:ext>
            </a:extLst>
          </p:cNvPr>
          <p:cNvSpPr txBox="1"/>
          <p:nvPr/>
        </p:nvSpPr>
        <p:spPr>
          <a:xfrm>
            <a:off x="736600" y="3035299"/>
            <a:ext cx="29591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  [PK]</a:t>
            </a:r>
            <a:endParaRPr lang="ko-KR" altLang="en-US" sz="1600" b="1">
              <a:solidFill>
                <a:srgbClr val="2563E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E3D397-779E-F7D3-6950-90678A86A138}"/>
              </a:ext>
            </a:extLst>
          </p:cNvPr>
          <p:cNvSpPr txBox="1"/>
          <p:nvPr/>
        </p:nvSpPr>
        <p:spPr>
          <a:xfrm>
            <a:off x="736600" y="3403599"/>
            <a:ext cx="29591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saved_at</a:t>
            </a:r>
            <a:endParaRPr lang="ko-KR" altLang="en-US" sz="16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6DF79E-56A8-0CEC-FD4A-18720C67BB73}"/>
              </a:ext>
            </a:extLst>
          </p:cNvPr>
          <p:cNvSpPr txBox="1"/>
          <p:nvPr/>
        </p:nvSpPr>
        <p:spPr>
          <a:xfrm>
            <a:off x="736600" y="3771899"/>
            <a:ext cx="29591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url</a:t>
            </a:r>
            <a:endParaRPr lang="ko-KR" altLang="en-US" sz="16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C8B99A-572F-6E53-FB10-623E4971B426}"/>
              </a:ext>
            </a:extLst>
          </p:cNvPr>
          <p:cNvSpPr txBox="1"/>
          <p:nvPr/>
        </p:nvSpPr>
        <p:spPr>
          <a:xfrm>
            <a:off x="736600" y="4140199"/>
            <a:ext cx="29591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collection_mode</a:t>
            </a:r>
            <a:endParaRPr lang="ko-KR" altLang="en-US" sz="16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30E5B5-2D82-4C66-82EF-BB5A5C2D0BF9}"/>
              </a:ext>
            </a:extLst>
          </p:cNvPr>
          <p:cNvSpPr txBox="1"/>
          <p:nvPr/>
        </p:nvSpPr>
        <p:spPr>
          <a:xfrm>
            <a:off x="736600" y="4508499"/>
            <a:ext cx="29591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request_json</a:t>
            </a:r>
            <a:endParaRPr lang="ko-KR" altLang="en-US" sz="16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0A805A-A3AB-8A3E-86FE-1A7192ABCDFA}"/>
              </a:ext>
            </a:extLst>
          </p:cNvPr>
          <p:cNvSpPr txBox="1"/>
          <p:nvPr/>
        </p:nvSpPr>
        <p:spPr>
          <a:xfrm>
            <a:off x="736600" y="4876799"/>
            <a:ext cx="29591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response_json</a:t>
            </a:r>
            <a:endParaRPr lang="ko-KR" altLang="en-US" sz="16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31DACB-1833-08C6-7EDA-C1E634DEAF0D}"/>
              </a:ext>
            </a:extLst>
          </p:cNvPr>
          <p:cNvSpPr txBox="1"/>
          <p:nvPr/>
        </p:nvSpPr>
        <p:spPr>
          <a:xfrm>
            <a:off x="736600" y="5245099"/>
            <a:ext cx="29591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response_sha256</a:t>
            </a:r>
            <a:endParaRPr lang="ko-KR" altLang="en-US" sz="16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C7AC2FCF-FCC8-836F-9036-0B31F12300E2}"/>
              </a:ext>
            </a:extLst>
          </p:cNvPr>
          <p:cNvSpPr/>
          <p:nvPr/>
        </p:nvSpPr>
        <p:spPr>
          <a:xfrm>
            <a:off x="4445000" y="2336800"/>
            <a:ext cx="3302000" cy="3517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9A9EC79-E7B5-9607-92B6-2148624396F0}"/>
              </a:ext>
            </a:extLst>
          </p:cNvPr>
          <p:cNvSpPr/>
          <p:nvPr/>
        </p:nvSpPr>
        <p:spPr>
          <a:xfrm>
            <a:off x="4445000" y="2336800"/>
            <a:ext cx="3302000" cy="533400"/>
          </a:xfrm>
          <a:prstGeom prst="rect">
            <a:avLst/>
          </a:prstGeom>
          <a:solidFill>
            <a:srgbClr val="13254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36D452-EF6B-A112-15B0-2B2D4FC6F143}"/>
              </a:ext>
            </a:extLst>
          </p:cNvPr>
          <p:cNvSpPr txBox="1"/>
          <p:nvPr/>
        </p:nvSpPr>
        <p:spPr>
          <a:xfrm>
            <a:off x="4610100" y="2438399"/>
            <a:ext cx="2971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candidates</a:t>
            </a:r>
            <a:endParaRPr lang="ko-KR" altLang="en-US" sz="23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2EF538-827D-C758-E4B7-279DE0F93E22}"/>
              </a:ext>
            </a:extLst>
          </p:cNvPr>
          <p:cNvSpPr txBox="1"/>
          <p:nvPr/>
        </p:nvSpPr>
        <p:spPr>
          <a:xfrm>
            <a:off x="4622800" y="3035299"/>
            <a:ext cx="29591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analysis_id  [PK, FK]</a:t>
            </a:r>
            <a:endParaRPr lang="ko-KR" altLang="en-US" sz="1600" b="1">
              <a:solidFill>
                <a:srgbClr val="2563E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BF93F7-459D-ACDB-0A87-A25BB64604EF}"/>
              </a:ext>
            </a:extLst>
          </p:cNvPr>
          <p:cNvSpPr txBox="1"/>
          <p:nvPr/>
        </p:nvSpPr>
        <p:spPr>
          <a:xfrm>
            <a:off x="4622800" y="3403599"/>
            <a:ext cx="29591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  [PK]</a:t>
            </a:r>
            <a:endParaRPr lang="ko-KR" altLang="en-US" sz="1600" b="1">
              <a:solidFill>
                <a:srgbClr val="2563E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32271D-F670-1979-8EE8-82A922348AB0}"/>
              </a:ext>
            </a:extLst>
          </p:cNvPr>
          <p:cNvSpPr txBox="1"/>
          <p:nvPr/>
        </p:nvSpPr>
        <p:spPr>
          <a:xfrm>
            <a:off x="4622800" y="3771899"/>
            <a:ext cx="29591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kind</a:t>
            </a:r>
            <a:endParaRPr lang="ko-KR" altLang="en-US" sz="16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0795CA-800F-F7DF-CBEE-B7856F113E36}"/>
              </a:ext>
            </a:extLst>
          </p:cNvPr>
          <p:cNvSpPr txBox="1"/>
          <p:nvPr/>
        </p:nvSpPr>
        <p:spPr>
          <a:xfrm>
            <a:off x="4622800" y="4140199"/>
            <a:ext cx="29591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item_json</a:t>
            </a:r>
            <a:endParaRPr lang="ko-KR" altLang="en-US" sz="16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B25CDA6-6084-F526-AA82-7C2720BCCD84}"/>
              </a:ext>
            </a:extLst>
          </p:cNvPr>
          <p:cNvSpPr/>
          <p:nvPr/>
        </p:nvSpPr>
        <p:spPr>
          <a:xfrm>
            <a:off x="8331200" y="2336800"/>
            <a:ext cx="3302000" cy="3517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EAD4778-900D-1ECF-6DF1-F59B59D56106}"/>
              </a:ext>
            </a:extLst>
          </p:cNvPr>
          <p:cNvSpPr/>
          <p:nvPr/>
        </p:nvSpPr>
        <p:spPr>
          <a:xfrm>
            <a:off x="8331200" y="2336800"/>
            <a:ext cx="3302000" cy="533400"/>
          </a:xfrm>
          <a:prstGeom prst="rect">
            <a:avLst/>
          </a:prstGeom>
          <a:solidFill>
            <a:srgbClr val="132542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2D5950-AF81-C3DC-AF6E-9A1AF3A305E3}"/>
              </a:ext>
            </a:extLst>
          </p:cNvPr>
          <p:cNvSpPr txBox="1"/>
          <p:nvPr/>
        </p:nvSpPr>
        <p:spPr>
          <a:xfrm>
            <a:off x="8496300" y="2438399"/>
            <a:ext cx="2971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2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reviews</a:t>
            </a:r>
            <a:endParaRPr lang="ko-KR" altLang="en-US" sz="23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8725E2-5B57-D6B3-2C57-16145BF23DC2}"/>
              </a:ext>
            </a:extLst>
          </p:cNvPr>
          <p:cNvSpPr txBox="1"/>
          <p:nvPr/>
        </p:nvSpPr>
        <p:spPr>
          <a:xfrm>
            <a:off x="8509000" y="3035299"/>
            <a:ext cx="29591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  [PK]</a:t>
            </a:r>
            <a:endParaRPr lang="ko-KR" altLang="en-US" sz="1600" b="1">
              <a:solidFill>
                <a:srgbClr val="2563E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18FA92-204B-8E61-7AE9-DA73D8B2A304}"/>
              </a:ext>
            </a:extLst>
          </p:cNvPr>
          <p:cNvSpPr txBox="1"/>
          <p:nvPr/>
        </p:nvSpPr>
        <p:spPr>
          <a:xfrm>
            <a:off x="8509000" y="3403599"/>
            <a:ext cx="29591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analysis_id  [FK </a:t>
            </a:r>
            <a:r>
              <a:rPr lang="ko-KR" altLang="en-US" sz="16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묶음</a:t>
            </a:r>
            <a:r>
              <a:rPr lang="en-US" altLang="ko-KR" sz="16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600" b="1">
              <a:solidFill>
                <a:srgbClr val="2563E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88709F-CBDA-4040-A323-545EFDD74A9E}"/>
              </a:ext>
            </a:extLst>
          </p:cNvPr>
          <p:cNvSpPr txBox="1"/>
          <p:nvPr/>
        </p:nvSpPr>
        <p:spPr>
          <a:xfrm>
            <a:off x="8509000" y="3771899"/>
            <a:ext cx="29591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candidate_id  [FK </a:t>
            </a:r>
            <a:r>
              <a:rPr lang="ko-KR" altLang="en-US" sz="16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묶음</a:t>
            </a:r>
            <a:r>
              <a:rPr lang="en-US" altLang="ko-KR" sz="16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600" b="1">
              <a:solidFill>
                <a:srgbClr val="2563E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273CED-8442-34BE-9EFE-EE08973A0333}"/>
              </a:ext>
            </a:extLst>
          </p:cNvPr>
          <p:cNvSpPr txBox="1"/>
          <p:nvPr/>
        </p:nvSpPr>
        <p:spPr>
          <a:xfrm>
            <a:off x="8509000" y="4140199"/>
            <a:ext cx="29591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decision</a:t>
            </a:r>
            <a:endParaRPr lang="ko-KR" altLang="en-US" sz="16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103C6E-65DF-F14C-0B50-13FE599785DD}"/>
              </a:ext>
            </a:extLst>
          </p:cNvPr>
          <p:cNvSpPr txBox="1"/>
          <p:nvPr/>
        </p:nvSpPr>
        <p:spPr>
          <a:xfrm>
            <a:off x="8509000" y="4508499"/>
            <a:ext cx="29591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reviewer</a:t>
            </a:r>
            <a:endParaRPr lang="ko-KR" altLang="en-US" sz="16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DCD4DF-ADDF-98CF-3903-3D31C2444E23}"/>
              </a:ext>
            </a:extLst>
          </p:cNvPr>
          <p:cNvSpPr txBox="1"/>
          <p:nvPr/>
        </p:nvSpPr>
        <p:spPr>
          <a:xfrm>
            <a:off x="8509000" y="4876799"/>
            <a:ext cx="29591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reason</a:t>
            </a:r>
            <a:endParaRPr lang="ko-KR" altLang="en-US" sz="16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201D72-4DE9-EA10-C4FF-813A82217D1B}"/>
              </a:ext>
            </a:extLst>
          </p:cNvPr>
          <p:cNvSpPr txBox="1"/>
          <p:nvPr/>
        </p:nvSpPr>
        <p:spPr>
          <a:xfrm>
            <a:off x="8509000" y="5245099"/>
            <a:ext cx="29591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reviewed_at</a:t>
            </a:r>
            <a:endParaRPr lang="ko-KR" altLang="en-US" sz="16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C4B05F6F-366B-32DF-F7D4-EA51603AE8FF}"/>
              </a:ext>
            </a:extLst>
          </p:cNvPr>
          <p:cNvCxnSpPr/>
          <p:nvPr/>
        </p:nvCxnSpPr>
        <p:spPr>
          <a:xfrm>
            <a:off x="3898900" y="4064000"/>
            <a:ext cx="482600" cy="0"/>
          </a:xfrm>
          <a:prstGeom prst="line">
            <a:avLst/>
          </a:prstGeom>
          <a:ln w="25400">
            <a:solidFill>
              <a:srgbClr val="2563E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7C366C41-80AA-FFF8-F4E7-757D88E4A33F}"/>
              </a:ext>
            </a:extLst>
          </p:cNvPr>
          <p:cNvCxnSpPr/>
          <p:nvPr/>
        </p:nvCxnSpPr>
        <p:spPr>
          <a:xfrm>
            <a:off x="7785100" y="4064000"/>
            <a:ext cx="482600" cy="0"/>
          </a:xfrm>
          <a:prstGeom prst="line">
            <a:avLst/>
          </a:prstGeom>
          <a:ln w="25400">
            <a:solidFill>
              <a:srgbClr val="2563E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1671CB5-49D2-6A11-DF78-B4194A6B3295}"/>
              </a:ext>
            </a:extLst>
          </p:cNvPr>
          <p:cNvSpPr txBox="1"/>
          <p:nvPr/>
        </p:nvSpPr>
        <p:spPr>
          <a:xfrm>
            <a:off x="3911600" y="3632199"/>
            <a:ext cx="508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1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1:N</a:t>
            </a:r>
            <a:endParaRPr lang="ko-KR" altLang="en-US" sz="1100" b="1">
              <a:solidFill>
                <a:srgbClr val="2563E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F5A4D4-DC36-7D18-8672-00C1AB1DEE14}"/>
              </a:ext>
            </a:extLst>
          </p:cNvPr>
          <p:cNvSpPr txBox="1"/>
          <p:nvPr/>
        </p:nvSpPr>
        <p:spPr>
          <a:xfrm>
            <a:off x="7797800" y="3632199"/>
            <a:ext cx="508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1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1:N</a:t>
            </a:r>
            <a:endParaRPr lang="ko-KR" altLang="en-US" sz="1100" b="1">
              <a:solidFill>
                <a:srgbClr val="2563E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72A137-1FBD-FB75-A84F-7FA5CCC796A2}"/>
              </a:ext>
            </a:extLst>
          </p:cNvPr>
          <p:cNvSpPr txBox="1"/>
          <p:nvPr/>
        </p:nvSpPr>
        <p:spPr>
          <a:xfrm>
            <a:off x="571500" y="6019799"/>
            <a:ext cx="11049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3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</a:t>
            </a:r>
            <a:r>
              <a:rPr lang="en-US" altLang="ko-KR" sz="13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 → </a:t>
            </a:r>
            <a:r>
              <a:rPr lang="ko-KR" altLang="en-US" sz="13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후보 </a:t>
            </a:r>
            <a:r>
              <a:rPr lang="en-US" altLang="ko-KR" sz="13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0..N  /  </a:t>
            </a:r>
            <a:r>
              <a:rPr lang="ko-KR" altLang="en-US" sz="13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후보 </a:t>
            </a:r>
            <a:r>
              <a:rPr lang="en-US" altLang="ko-KR" sz="13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 → </a:t>
            </a:r>
            <a:r>
              <a:rPr lang="ko-KR" altLang="en-US" sz="13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검토 </a:t>
            </a:r>
            <a:r>
              <a:rPr lang="en-US" altLang="ko-KR" sz="13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0..N  /  </a:t>
            </a:r>
            <a:r>
              <a:rPr lang="ko-KR" altLang="en-US" sz="13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검토의 두 </a:t>
            </a:r>
            <a:r>
              <a:rPr lang="en-US" altLang="ko-KR" sz="13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FK </a:t>
            </a:r>
            <a:r>
              <a:rPr lang="ko-KR" altLang="en-US" sz="13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필드는 하나의 복합 외래키</a:t>
            </a:r>
          </a:p>
        </p:txBody>
      </p:sp>
    </p:spTree>
    <p:extLst>
      <p:ext uri="{BB962C8B-B14F-4D97-AF65-F5344CB8AC3E}">
        <p14:creationId xmlns:p14="http://schemas.microsoft.com/office/powerpoint/2010/main" val="653776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5473DCF-7CDD-6B27-051C-4FE6E990B197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ED5F94-9238-9584-24DD-EB156B3A710F}"/>
              </a:ext>
            </a:extLst>
          </p:cNvPr>
          <p:cNvSpPr txBox="1"/>
          <p:nvPr/>
        </p:nvSpPr>
        <p:spPr>
          <a:xfrm>
            <a:off x="558800" y="317500"/>
            <a:ext cx="10541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1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  </a:t>
            </a:r>
            <a:r>
              <a:rPr lang="ko-KR" altLang="en-US" sz="11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설계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1284C7-E186-D6CB-31EB-F44A1CB14053}"/>
              </a:ext>
            </a:extLst>
          </p:cNvPr>
          <p:cNvSpPr txBox="1"/>
          <p:nvPr/>
        </p:nvSpPr>
        <p:spPr>
          <a:xfrm>
            <a:off x="558800" y="723899"/>
            <a:ext cx="110744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 </a:t>
            </a:r>
            <a:r>
              <a:rPr lang="ko-KR" altLang="en-US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기능과 도입 효과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1F39F8-A70B-3D30-06F3-F84AA1B43298}"/>
              </a:ext>
            </a:extLst>
          </p:cNvPr>
          <p:cNvSpPr txBox="1"/>
          <p:nvPr/>
        </p:nvSpPr>
        <p:spPr>
          <a:xfrm>
            <a:off x="558800" y="1460499"/>
            <a:ext cx="11049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결과를 일회성 파일에서 다시 확인할 수 있는 기록으로 확장했습니다</a:t>
            </a:r>
            <a:r>
              <a:rPr lang="en-US" altLang="ko-KR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7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9EE279F-C672-DF7C-0FC0-65AB45664C73}"/>
              </a:ext>
            </a:extLst>
          </p:cNvPr>
          <p:cNvSpPr/>
          <p:nvPr/>
        </p:nvSpPr>
        <p:spPr>
          <a:xfrm>
            <a:off x="558800" y="6362700"/>
            <a:ext cx="11074400" cy="12700"/>
          </a:xfrm>
          <a:prstGeom prst="rect">
            <a:avLst/>
          </a:prstGeom>
          <a:solidFill>
            <a:srgbClr val="DAE2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C1B8C0-15B2-A334-2B9D-52746784C469}"/>
              </a:ext>
            </a:extLst>
          </p:cNvPr>
          <p:cNvSpPr txBox="1"/>
          <p:nvPr/>
        </p:nvSpPr>
        <p:spPr>
          <a:xfrm>
            <a:off x="558800" y="6527800"/>
            <a:ext cx="10414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공공 웹사이트 불법광고 탐지 도구 프로젝트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257D30-B603-F6FF-73D7-3005361FFCCD}"/>
              </a:ext>
            </a:extLst>
          </p:cNvPr>
          <p:cNvSpPr txBox="1"/>
          <p:nvPr/>
        </p:nvSpPr>
        <p:spPr>
          <a:xfrm>
            <a:off x="10998200" y="6477000"/>
            <a:ext cx="635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11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 / 15</a:t>
            </a:r>
            <a:endParaRPr lang="ko-KR" altLang="en-US" sz="11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B6051B78-E5C4-629C-B40C-9E57A194D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134681"/>
              </p:ext>
            </p:extLst>
          </p:nvPr>
        </p:nvGraphicFramePr>
        <p:xfrm>
          <a:off x="558800" y="2247900"/>
          <a:ext cx="11074400" cy="3263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3480">
                  <a:extLst>
                    <a:ext uri="{9D8B030D-6E8A-4147-A177-3AD203B41FA5}">
                      <a16:colId xmlns:a16="http://schemas.microsoft.com/office/drawing/2014/main" val="3837512086"/>
                    </a:ext>
                  </a:extLst>
                </a:gridCol>
                <a:gridCol w="6090920">
                  <a:extLst>
                    <a:ext uri="{9D8B030D-6E8A-4147-A177-3AD203B41FA5}">
                      <a16:colId xmlns:a16="http://schemas.microsoft.com/office/drawing/2014/main" val="1006990516"/>
                    </a:ext>
                  </a:extLst>
                </a:gridCol>
              </a:tblGrid>
              <a:tr h="6527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구현 기능</a:t>
                      </a:r>
                    </a:p>
                  </a:txBody>
                  <a:tcPr marL="152400" marR="127000" marT="101600" marB="76200" anchor="ctr">
                    <a:solidFill>
                      <a:srgbClr val="13254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제공하는 가치</a:t>
                      </a:r>
                    </a:p>
                  </a:txBody>
                  <a:tcPr marL="152400" marR="127000" marT="101600" marB="76200" anchor="ctr">
                    <a:solidFill>
                      <a:srgbClr val="1325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589529"/>
                  </a:ext>
                </a:extLst>
              </a:tr>
              <a:tr h="6527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요청</a:t>
                      </a:r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응답</a:t>
                      </a:r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규칙 버전 사본</a:t>
                      </a:r>
                    </a:p>
                  </a:txBody>
                  <a:tcPr marL="152400" marR="127000" marT="101600" marB="7620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당시 분석 설정과 결과 재조회</a:t>
                      </a:r>
                    </a:p>
                  </a:txBody>
                  <a:tcPr marL="152400" marR="127000" marT="101600" marB="76200" anchor="ctr"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285046"/>
                  </a:ext>
                </a:extLst>
              </a:tr>
              <a:tr h="6527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후보별 검토 누적</a:t>
                      </a:r>
                    </a:p>
                  </a:txBody>
                  <a:tcPr marL="152400" marR="127000" marT="1016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누가 왜 판단했는지 추적</a:t>
                      </a:r>
                    </a:p>
                  </a:txBody>
                  <a:tcPr marL="152400" marR="127000" marT="1016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079948"/>
                  </a:ext>
                </a:extLst>
              </a:tr>
              <a:tr h="6527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재실행 후 이력 유지</a:t>
                      </a:r>
                    </a:p>
                  </a:txBody>
                  <a:tcPr marL="152400" marR="127000" marT="101600" marB="76200" anchor="ctr"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프로그램을 다시 열어 기록 확인</a:t>
                      </a:r>
                    </a:p>
                  </a:txBody>
                  <a:tcPr marL="152400" marR="127000" marT="101600" marB="76200" anchor="ctr">
                    <a:solidFill>
                      <a:srgbClr val="F0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341919"/>
                  </a:ext>
                </a:extLst>
              </a:tr>
              <a:tr h="6527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 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 실패 별도 경고</a:t>
                      </a:r>
                    </a:p>
                  </a:txBody>
                  <a:tcPr marL="152400" marR="127000" marT="1016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분석</a:t>
                      </a:r>
                      <a:r>
                        <a:rPr lang="en-US" altLang="ko-KR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13254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다운로드 이용 유지</a:t>
                      </a:r>
                    </a:p>
                  </a:txBody>
                  <a:tcPr marL="152400" marR="127000" marT="1016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429363"/>
                  </a:ext>
                </a:extLst>
              </a:tr>
            </a:tbl>
          </a:graphicData>
        </a:graphic>
      </p:graphicFrame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580C139-F02B-A802-E88D-F12772353CFD}"/>
              </a:ext>
            </a:extLst>
          </p:cNvPr>
          <p:cNvSpPr/>
          <p:nvPr/>
        </p:nvSpPr>
        <p:spPr>
          <a:xfrm>
            <a:off x="558800" y="5765800"/>
            <a:ext cx="11074400" cy="381000"/>
          </a:xfrm>
          <a:prstGeom prst="roundRect">
            <a:avLst/>
          </a:prstGeom>
          <a:solidFill>
            <a:srgbClr val="F0F5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37E3A9-C686-58DE-C9E0-244BD630D0B7}"/>
              </a:ext>
            </a:extLst>
          </p:cNvPr>
          <p:cNvSpPr txBox="1"/>
          <p:nvPr/>
        </p:nvSpPr>
        <p:spPr>
          <a:xfrm>
            <a:off x="660400" y="5829299"/>
            <a:ext cx="108712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사본 저장 → 후보 확인 → 검토 기록 추가 → 재조회</a:t>
            </a:r>
          </a:p>
        </p:txBody>
      </p:sp>
    </p:spTree>
    <p:extLst>
      <p:ext uri="{BB962C8B-B14F-4D97-AF65-F5344CB8AC3E}">
        <p14:creationId xmlns:p14="http://schemas.microsoft.com/office/powerpoint/2010/main" val="1957218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6B14B9B-CC2C-E427-858C-D8BA43AFBCE2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06AEF8-A1DC-0DDB-7C54-4CCA466182E5}"/>
              </a:ext>
            </a:extLst>
          </p:cNvPr>
          <p:cNvSpPr txBox="1"/>
          <p:nvPr/>
        </p:nvSpPr>
        <p:spPr>
          <a:xfrm>
            <a:off x="558800" y="317500"/>
            <a:ext cx="10541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1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  </a:t>
            </a:r>
            <a:r>
              <a:rPr lang="ko-KR" altLang="en-US" sz="11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검증과 개선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45D801-3CFE-3450-15AE-F10C4EE58B20}"/>
              </a:ext>
            </a:extLst>
          </p:cNvPr>
          <p:cNvSpPr txBox="1"/>
          <p:nvPr/>
        </p:nvSpPr>
        <p:spPr>
          <a:xfrm>
            <a:off x="558800" y="723899"/>
            <a:ext cx="110744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실행 근거와 검증 범위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A9C5CB-EBA6-E2DD-1002-226E519851D3}"/>
              </a:ext>
            </a:extLst>
          </p:cNvPr>
          <p:cNvSpPr txBox="1"/>
          <p:nvPr/>
        </p:nvSpPr>
        <p:spPr>
          <a:xfrm>
            <a:off x="558800" y="1460499"/>
            <a:ext cx="11049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메인에서 목표 게시글의 제목</a:t>
            </a:r>
            <a:r>
              <a:rPr lang="en-US" altLang="ko-KR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본문까지 분석한 근거를 확인했습니다</a:t>
            </a:r>
            <a:r>
              <a:rPr lang="en-US" altLang="ko-KR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7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473A426-BAE1-995E-D699-17870726C7F6}"/>
              </a:ext>
            </a:extLst>
          </p:cNvPr>
          <p:cNvSpPr/>
          <p:nvPr/>
        </p:nvSpPr>
        <p:spPr>
          <a:xfrm>
            <a:off x="558800" y="6362700"/>
            <a:ext cx="11074400" cy="12700"/>
          </a:xfrm>
          <a:prstGeom prst="rect">
            <a:avLst/>
          </a:prstGeom>
          <a:solidFill>
            <a:srgbClr val="DAE2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9FAD6C-3BBB-22B3-A097-A8720AE7E7B4}"/>
              </a:ext>
            </a:extLst>
          </p:cNvPr>
          <p:cNvSpPr txBox="1"/>
          <p:nvPr/>
        </p:nvSpPr>
        <p:spPr>
          <a:xfrm>
            <a:off x="558800" y="6527800"/>
            <a:ext cx="10414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공공 웹사이트 불법광고 탐지 도구 프로젝트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971D73-56FF-4353-B826-2790795B8081}"/>
              </a:ext>
            </a:extLst>
          </p:cNvPr>
          <p:cNvSpPr txBox="1"/>
          <p:nvPr/>
        </p:nvSpPr>
        <p:spPr>
          <a:xfrm>
            <a:off x="10998200" y="6477000"/>
            <a:ext cx="635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11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14 / 15</a:t>
            </a:r>
            <a:endParaRPr lang="ko-KR" altLang="en-US" sz="11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660F442-3914-077D-C509-2A284BF4B4E3}"/>
              </a:ext>
            </a:extLst>
          </p:cNvPr>
          <p:cNvSpPr/>
          <p:nvPr/>
        </p:nvSpPr>
        <p:spPr>
          <a:xfrm>
            <a:off x="558800" y="2247900"/>
            <a:ext cx="2540000" cy="60960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AE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C6857F-A223-81E3-21BE-3A43E3409BFB}"/>
              </a:ext>
            </a:extLst>
          </p:cNvPr>
          <p:cNvSpPr txBox="1"/>
          <p:nvPr/>
        </p:nvSpPr>
        <p:spPr>
          <a:xfrm>
            <a:off x="660400" y="2400299"/>
            <a:ext cx="2336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7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교육청 어린이 메인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F4CDD03-ED02-CB60-4B28-440C1E93B1AC}"/>
              </a:ext>
            </a:extLst>
          </p:cNvPr>
          <p:cNvCxnSpPr/>
          <p:nvPr/>
        </p:nvCxnSpPr>
        <p:spPr>
          <a:xfrm>
            <a:off x="3136900" y="2552700"/>
            <a:ext cx="215900" cy="0"/>
          </a:xfrm>
          <a:prstGeom prst="line">
            <a:avLst/>
          </a:prstGeom>
          <a:ln w="25400">
            <a:solidFill>
              <a:srgbClr val="2563E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FEA941C-0A1D-2678-0E57-C5D986BC3E62}"/>
              </a:ext>
            </a:extLst>
          </p:cNvPr>
          <p:cNvSpPr/>
          <p:nvPr/>
        </p:nvSpPr>
        <p:spPr>
          <a:xfrm>
            <a:off x="3403600" y="2247900"/>
            <a:ext cx="2540000" cy="60960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AE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56C8CC-0A1F-A456-256B-C990A7B00B51}"/>
              </a:ext>
            </a:extLst>
          </p:cNvPr>
          <p:cNvSpPr txBox="1"/>
          <p:nvPr/>
        </p:nvSpPr>
        <p:spPr>
          <a:xfrm>
            <a:off x="3505200" y="2400299"/>
            <a:ext cx="2336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7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게시판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949CFD30-F173-3851-1F38-6FD37990FC69}"/>
              </a:ext>
            </a:extLst>
          </p:cNvPr>
          <p:cNvCxnSpPr/>
          <p:nvPr/>
        </p:nvCxnSpPr>
        <p:spPr>
          <a:xfrm>
            <a:off x="5981700" y="2552700"/>
            <a:ext cx="215900" cy="0"/>
          </a:xfrm>
          <a:prstGeom prst="line">
            <a:avLst/>
          </a:prstGeom>
          <a:ln w="25400">
            <a:solidFill>
              <a:srgbClr val="2563E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01201B2-0644-5478-A793-E713AC601352}"/>
              </a:ext>
            </a:extLst>
          </p:cNvPr>
          <p:cNvSpPr/>
          <p:nvPr/>
        </p:nvSpPr>
        <p:spPr>
          <a:xfrm>
            <a:off x="6248400" y="2247900"/>
            <a:ext cx="2540000" cy="60960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AE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0342AD-D128-BA89-169B-A932647AF1EA}"/>
              </a:ext>
            </a:extLst>
          </p:cNvPr>
          <p:cNvSpPr txBox="1"/>
          <p:nvPr/>
        </p:nvSpPr>
        <p:spPr>
          <a:xfrm>
            <a:off x="6350000" y="2400299"/>
            <a:ext cx="2336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altLang="ko-KR" sz="17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107</a:t>
            </a:r>
            <a:r>
              <a:rPr lang="ko-KR" altLang="en-US" sz="17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 글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26DCB2A-3C1F-7FDC-3B91-2F47EDE6827A}"/>
              </a:ext>
            </a:extLst>
          </p:cNvPr>
          <p:cNvCxnSpPr/>
          <p:nvPr/>
        </p:nvCxnSpPr>
        <p:spPr>
          <a:xfrm>
            <a:off x="8826500" y="2552700"/>
            <a:ext cx="215900" cy="0"/>
          </a:xfrm>
          <a:prstGeom prst="line">
            <a:avLst/>
          </a:prstGeom>
          <a:ln w="25400">
            <a:solidFill>
              <a:srgbClr val="2563EB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BC4A597-E56C-3BC0-6F5F-531B02C715D3}"/>
              </a:ext>
            </a:extLst>
          </p:cNvPr>
          <p:cNvSpPr/>
          <p:nvPr/>
        </p:nvSpPr>
        <p:spPr>
          <a:xfrm>
            <a:off x="9093200" y="2247900"/>
            <a:ext cx="2540000" cy="609600"/>
          </a:xfrm>
          <a:prstGeom prst="roundRect">
            <a:avLst/>
          </a:prstGeom>
          <a:solidFill>
            <a:srgbClr val="F0F5FC"/>
          </a:solidFill>
          <a:ln w="12700">
            <a:solidFill>
              <a:srgbClr val="DAE2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4A4738-D2BB-2D33-C6C7-59263CC3DDAD}"/>
              </a:ext>
            </a:extLst>
          </p:cNvPr>
          <p:cNvSpPr txBox="1"/>
          <p:nvPr/>
        </p:nvSpPr>
        <p:spPr>
          <a:xfrm>
            <a:off x="9194800" y="2400299"/>
            <a:ext cx="2336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7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제목</a:t>
            </a:r>
            <a:r>
              <a:rPr lang="en-US" altLang="ko-KR" sz="17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7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본문 후보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7844A38-D559-2040-7EA5-1EB128592346}"/>
              </a:ext>
            </a:extLst>
          </p:cNvPr>
          <p:cNvSpPr/>
          <p:nvPr/>
        </p:nvSpPr>
        <p:spPr>
          <a:xfrm>
            <a:off x="558800" y="3175000"/>
            <a:ext cx="6781800" cy="2819400"/>
          </a:xfrm>
          <a:prstGeom prst="roundRect">
            <a:avLst/>
          </a:prstGeom>
          <a:solidFill>
            <a:srgbClr val="F0F5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F85B2E-C4F3-0AB9-7C89-180AAD3206F9}"/>
              </a:ext>
            </a:extLst>
          </p:cNvPr>
          <p:cNvSpPr txBox="1"/>
          <p:nvPr/>
        </p:nvSpPr>
        <p:spPr>
          <a:xfrm>
            <a:off x="800100" y="3365499"/>
            <a:ext cx="62484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근거 </a:t>
            </a:r>
            <a:r>
              <a:rPr lang="en-US" altLang="ko-KR" sz="15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 · </a:t>
            </a:r>
            <a:r>
              <a:rPr lang="ko-KR" altLang="en-US" sz="15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복사 이력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CD6F42-3A36-7AF8-67D2-DC7C6C2BF8D5}"/>
              </a:ext>
            </a:extLst>
          </p:cNvPr>
          <p:cNvSpPr txBox="1"/>
          <p:nvPr/>
        </p:nvSpPr>
        <p:spPr>
          <a:xfrm>
            <a:off x="800100" y="3860799"/>
            <a:ext cx="62484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27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제목 </a:t>
            </a:r>
            <a:r>
              <a:rPr lang="en-US" altLang="ko-KR" sz="27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44</a:t>
            </a:r>
            <a:r>
              <a:rPr lang="ko-KR" altLang="en-US" sz="27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 </a:t>
            </a:r>
            <a:r>
              <a:rPr lang="en-US" altLang="ko-KR" sz="27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7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본문 </a:t>
            </a:r>
            <a:r>
              <a:rPr lang="en-US" altLang="ko-KR" sz="27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4,916</a:t>
            </a:r>
            <a:r>
              <a:rPr lang="ko-KR" altLang="en-US" sz="27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7AB90C-59E0-63EE-C7AE-3918E962A833}"/>
              </a:ext>
            </a:extLst>
          </p:cNvPr>
          <p:cNvSpPr txBox="1"/>
          <p:nvPr/>
        </p:nvSpPr>
        <p:spPr>
          <a:xfrm>
            <a:off x="800100" y="4635499"/>
            <a:ext cx="6248400" cy="800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후보 </a:t>
            </a:r>
            <a:r>
              <a:rPr lang="en-US" altLang="ko-KR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400</a:t>
            </a:r>
            <a:r>
              <a:rPr lang="ko-KR" altLang="en-US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</a:t>
            </a:r>
            <a:r>
              <a:rPr lang="en-US" altLang="ko-KR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 </a:t>
            </a:r>
            <a:r>
              <a:rPr lang="ko-KR" altLang="en-US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 </a:t>
            </a:r>
            <a:r>
              <a:rPr lang="en-US" altLang="ko-KR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385</a:t>
            </a:r>
            <a:r>
              <a:rPr lang="ko-KR" altLang="en-US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</a:t>
            </a:r>
            <a:r>
              <a:rPr lang="en-US" altLang="ko-KR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JAMO 15</a:t>
            </a:r>
            <a:r>
              <a:rPr lang="ko-KR" altLang="en-US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
목록 문구 반복 포함 </a:t>
            </a:r>
            <a:r>
              <a:rPr lang="en-US" altLang="ko-KR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고유 광고 수 아님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831157E-2F11-6DFC-737D-80020674BA10}"/>
              </a:ext>
            </a:extLst>
          </p:cNvPr>
          <p:cNvSpPr/>
          <p:nvPr/>
        </p:nvSpPr>
        <p:spPr>
          <a:xfrm>
            <a:off x="7670800" y="3175000"/>
            <a:ext cx="3962400" cy="2819400"/>
          </a:xfrm>
          <a:prstGeom prst="roundRect">
            <a:avLst/>
          </a:prstGeom>
          <a:solidFill>
            <a:srgbClr val="1325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94A2F4-E9EB-5468-EFD2-FA212EB7897A}"/>
              </a:ext>
            </a:extLst>
          </p:cNvPr>
          <p:cNvSpPr txBox="1"/>
          <p:nvPr/>
        </p:nvSpPr>
        <p:spPr>
          <a:xfrm>
            <a:off x="7912100" y="3365499"/>
            <a:ext cx="3479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ADCC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근거 </a:t>
            </a:r>
            <a:r>
              <a:rPr lang="en-US" altLang="ko-KR" sz="1500" b="1">
                <a:solidFill>
                  <a:srgbClr val="ADCC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 · </a:t>
            </a:r>
            <a:r>
              <a:rPr lang="ko-KR" altLang="en-US" sz="1500" b="1">
                <a:solidFill>
                  <a:srgbClr val="ADCC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회귀 검사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AC24A8-B565-4A00-6234-06155F6C39A5}"/>
              </a:ext>
            </a:extLst>
          </p:cNvPr>
          <p:cNvSpPr txBox="1"/>
          <p:nvPr/>
        </p:nvSpPr>
        <p:spPr>
          <a:xfrm>
            <a:off x="7912100" y="3886199"/>
            <a:ext cx="34798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3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337</a:t>
            </a:r>
            <a:r>
              <a:rPr lang="ko-KR" altLang="en-US" sz="3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통과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4981F3-0777-F1B4-1FF4-41472F83B16E}"/>
              </a:ext>
            </a:extLst>
          </p:cNvPr>
          <p:cNvSpPr txBox="1"/>
          <p:nvPr/>
        </p:nvSpPr>
        <p:spPr>
          <a:xfrm>
            <a:off x="7912100" y="4686299"/>
            <a:ext cx="3479800" cy="850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600">
                <a:solidFill>
                  <a:srgbClr val="CAD8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Node·</a:t>
            </a:r>
            <a:r>
              <a:rPr lang="ko-KR" altLang="en-US" sz="1600">
                <a:solidFill>
                  <a:srgbClr val="CAD8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en-US" altLang="ko-KR" sz="1600">
                <a:solidFill>
                  <a:srgbClr val="CAD8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Edge·</a:t>
            </a:r>
            <a:r>
              <a:rPr lang="ko-KR" altLang="en-US" sz="1600">
                <a:solidFill>
                  <a:srgbClr val="CAD8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패키지 검사
탐지 정확도 수치와는 구분</a:t>
            </a:r>
          </a:p>
        </p:txBody>
      </p:sp>
    </p:spTree>
    <p:extLst>
      <p:ext uri="{BB962C8B-B14F-4D97-AF65-F5344CB8AC3E}">
        <p14:creationId xmlns:p14="http://schemas.microsoft.com/office/powerpoint/2010/main" val="3618415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E8449B8-E30E-FF4B-1815-816C4EE715C6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B11153-F95D-ACB0-40DF-DDD7DBF04627}"/>
              </a:ext>
            </a:extLst>
          </p:cNvPr>
          <p:cNvSpPr txBox="1"/>
          <p:nvPr/>
        </p:nvSpPr>
        <p:spPr>
          <a:xfrm>
            <a:off x="558800" y="317500"/>
            <a:ext cx="10541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1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  </a:t>
            </a:r>
            <a:r>
              <a:rPr lang="ko-KR" altLang="en-US" sz="11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검증과 개선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AD8FE3-41A5-CD71-4084-CC161A06B7A9}"/>
              </a:ext>
            </a:extLst>
          </p:cNvPr>
          <p:cNvSpPr txBox="1"/>
          <p:nvPr/>
        </p:nvSpPr>
        <p:spPr>
          <a:xfrm>
            <a:off x="558800" y="723899"/>
            <a:ext cx="110744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0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 과제와 향후 방향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F855C7-62EC-8E72-9532-5051198B1680}"/>
              </a:ext>
            </a:extLst>
          </p:cNvPr>
          <p:cNvSpPr txBox="1"/>
          <p:nvPr/>
        </p:nvSpPr>
        <p:spPr>
          <a:xfrm>
            <a:off x="558800" y="1460499"/>
            <a:ext cx="11049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현재의 한계를 명시하고 확장은 필요성과 검증 기준에 따라 판단합니다</a:t>
            </a:r>
            <a:r>
              <a:rPr lang="en-US" altLang="ko-KR" sz="17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7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D7BB3BE-232C-0418-4074-8BB2290AAD9D}"/>
              </a:ext>
            </a:extLst>
          </p:cNvPr>
          <p:cNvSpPr/>
          <p:nvPr/>
        </p:nvSpPr>
        <p:spPr>
          <a:xfrm>
            <a:off x="558800" y="6362700"/>
            <a:ext cx="11074400" cy="12700"/>
          </a:xfrm>
          <a:prstGeom prst="rect">
            <a:avLst/>
          </a:prstGeom>
          <a:solidFill>
            <a:srgbClr val="DAE2ED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B36E88-C904-4356-7D0E-8F074F221CC4}"/>
              </a:ext>
            </a:extLst>
          </p:cNvPr>
          <p:cNvSpPr txBox="1"/>
          <p:nvPr/>
        </p:nvSpPr>
        <p:spPr>
          <a:xfrm>
            <a:off x="558800" y="6527800"/>
            <a:ext cx="10414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9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공공 웹사이트 불법광고 탐지 도구 프로젝트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73AB7C-5097-27B5-AAEF-FE87A8ECC162}"/>
              </a:ext>
            </a:extLst>
          </p:cNvPr>
          <p:cNvSpPr txBox="1"/>
          <p:nvPr/>
        </p:nvSpPr>
        <p:spPr>
          <a:xfrm>
            <a:off x="10998200" y="6477000"/>
            <a:ext cx="635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altLang="ko-KR" sz="1100">
                <a:solidFill>
                  <a:srgbClr val="5B6B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 / 15</a:t>
            </a:r>
            <a:endParaRPr lang="ko-KR" altLang="en-US" sz="1100">
              <a:solidFill>
                <a:srgbClr val="5B6B8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272BE87-84CE-7F81-DAC8-7EFBA1AC00B8}"/>
              </a:ext>
            </a:extLst>
          </p:cNvPr>
          <p:cNvSpPr/>
          <p:nvPr/>
        </p:nvSpPr>
        <p:spPr>
          <a:xfrm>
            <a:off x="558800" y="2247900"/>
            <a:ext cx="5346700" cy="3213100"/>
          </a:xfrm>
          <a:prstGeom prst="roundRect">
            <a:avLst/>
          </a:prstGeom>
          <a:solidFill>
            <a:srgbClr val="FFF8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0BE014C-D1F2-41E4-E9A1-3FECFC74882D}"/>
              </a:ext>
            </a:extLst>
          </p:cNvPr>
          <p:cNvSpPr/>
          <p:nvPr/>
        </p:nvSpPr>
        <p:spPr>
          <a:xfrm>
            <a:off x="774700" y="2451100"/>
            <a:ext cx="2349500" cy="381000"/>
          </a:xfrm>
          <a:prstGeom prst="roundRect">
            <a:avLst/>
          </a:prstGeom>
          <a:solidFill>
            <a:srgbClr val="FFF8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0A33FA-C6FB-57AD-1B2E-9107E3F49BDB}"/>
              </a:ext>
            </a:extLst>
          </p:cNvPr>
          <p:cNvSpPr txBox="1"/>
          <p:nvPr/>
        </p:nvSpPr>
        <p:spPr>
          <a:xfrm>
            <a:off x="876300" y="2514599"/>
            <a:ext cx="21463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200" b="1">
                <a:solidFill>
                  <a:srgbClr val="B4631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개선 필요 </a:t>
            </a:r>
            <a:r>
              <a:rPr lang="en-US" altLang="ko-KR" sz="1200" b="1">
                <a:solidFill>
                  <a:srgbClr val="B4631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 b="1">
                <a:solidFill>
                  <a:srgbClr val="B4631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미수정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B3D108-E6FC-D618-E327-D4B120ADD035}"/>
              </a:ext>
            </a:extLst>
          </p:cNvPr>
          <p:cNvSpPr txBox="1"/>
          <p:nvPr/>
        </p:nvSpPr>
        <p:spPr>
          <a:xfrm>
            <a:off x="787400" y="3073399"/>
            <a:ext cx="4876800" cy="2120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9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반복 후보를 사용자 관점에서 요약
아래아</a:t>
            </a:r>
            <a:r>
              <a:rPr lang="en-US" altLang="ko-KR" sz="19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9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ㆍ</a:t>
            </a:r>
            <a:r>
              <a:rPr lang="en-US" altLang="ko-KR" sz="19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9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문구의 </a:t>
            </a:r>
            <a:r>
              <a:rPr lang="en-US" altLang="ko-KR" sz="19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JAMO </a:t>
            </a:r>
            <a:r>
              <a:rPr lang="ko-KR" altLang="en-US" sz="19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검출
실패 원인</a:t>
            </a:r>
            <a:r>
              <a:rPr lang="en-US" altLang="ko-KR" sz="19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9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미검수 범위 근거 보강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842C49F-C047-7353-CC45-726E6AAC42FA}"/>
              </a:ext>
            </a:extLst>
          </p:cNvPr>
          <p:cNvSpPr/>
          <p:nvPr/>
        </p:nvSpPr>
        <p:spPr>
          <a:xfrm>
            <a:off x="6223000" y="2247900"/>
            <a:ext cx="5410200" cy="3213100"/>
          </a:xfrm>
          <a:prstGeom prst="roundRect">
            <a:avLst/>
          </a:prstGeom>
          <a:solidFill>
            <a:srgbClr val="F0F5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F22EAAD-2588-C885-B8A2-798C8CA9C6B5}"/>
              </a:ext>
            </a:extLst>
          </p:cNvPr>
          <p:cNvSpPr/>
          <p:nvPr/>
        </p:nvSpPr>
        <p:spPr>
          <a:xfrm>
            <a:off x="6451600" y="2451100"/>
            <a:ext cx="2463800" cy="381000"/>
          </a:xfrm>
          <a:prstGeom prst="roundRect">
            <a:avLst/>
          </a:prstGeom>
          <a:solidFill>
            <a:srgbClr val="F0F5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88BBC3-956A-D2FF-7548-39B099329571}"/>
              </a:ext>
            </a:extLst>
          </p:cNvPr>
          <p:cNvSpPr txBox="1"/>
          <p:nvPr/>
        </p:nvSpPr>
        <p:spPr>
          <a:xfrm>
            <a:off x="6553200" y="2514599"/>
            <a:ext cx="22606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향후 확장 </a:t>
            </a:r>
            <a:r>
              <a:rPr lang="en-US" altLang="ko-KR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미구현</a:t>
            </a:r>
            <a:r>
              <a:rPr lang="en-US" altLang="ko-KR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>
                <a:solidFill>
                  <a:srgbClr val="2563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6B0A6A-857C-52EA-40FF-908E35433981}"/>
              </a:ext>
            </a:extLst>
          </p:cNvPr>
          <p:cNvSpPr txBox="1"/>
          <p:nvPr/>
        </p:nvSpPr>
        <p:spPr>
          <a:xfrm>
            <a:off x="6451600" y="3073399"/>
            <a:ext cx="4927600" cy="2120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9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점검 대상</a:t>
            </a:r>
            <a:r>
              <a:rPr lang="en-US" altLang="ko-KR" sz="19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9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재분석 비교 등 </a:t>
            </a:r>
            <a:r>
              <a:rPr lang="en-US" altLang="ko-KR" sz="19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 </a:t>
            </a:r>
            <a:r>
              <a:rPr lang="ko-KR" altLang="en-US" sz="19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
출처</a:t>
            </a:r>
            <a:r>
              <a:rPr lang="en-US" altLang="ko-KR" sz="19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9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검수 상태를 가진 사례 검색
공동 이용 플랫폼</a:t>
            </a:r>
            <a:r>
              <a:rPr lang="en-US" altLang="ko-KR" sz="19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9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로컬 </a:t>
            </a:r>
            <a:r>
              <a:rPr lang="en-US" altLang="ko-KR" sz="19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RAG </a:t>
            </a:r>
            <a:r>
              <a:rPr lang="ko-KR" altLang="en-US" sz="1900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146CFE-FC48-2F46-D43B-948A118D08B9}"/>
              </a:ext>
            </a:extLst>
          </p:cNvPr>
          <p:cNvSpPr txBox="1"/>
          <p:nvPr/>
        </p:nvSpPr>
        <p:spPr>
          <a:xfrm>
            <a:off x="571500" y="5753099"/>
            <a:ext cx="110490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ko-KR" altLang="en-US" sz="2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탐색</a:t>
            </a:r>
            <a:r>
              <a:rPr lang="en-US" altLang="ko-KR" sz="2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</a:t>
            </a:r>
            <a:r>
              <a:rPr lang="en-US" altLang="ko-KR" sz="2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원문</a:t>
            </a:r>
            <a:r>
              <a:rPr lang="en-US" altLang="ko-KR" sz="2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위치</a:t>
            </a:r>
            <a:r>
              <a:rPr lang="en-US" altLang="ko-KR" sz="2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200" b="1">
                <a:solidFill>
                  <a:srgbClr val="1325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검토 기록을 연결한 로컬 도구</a:t>
            </a:r>
          </a:p>
        </p:txBody>
      </p:sp>
    </p:spTree>
    <p:extLst>
      <p:ext uri="{BB962C8B-B14F-4D97-AF65-F5344CB8AC3E}">
        <p14:creationId xmlns:p14="http://schemas.microsoft.com/office/powerpoint/2010/main" val="1849572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2596</Words>
  <Application>Microsoft Office PowerPoint</Application>
  <PresentationFormat>사용자 지정</PresentationFormat>
  <Paragraphs>326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오 정호</dc:creator>
  <cp:lastModifiedBy>오 정호</cp:lastModifiedBy>
  <cp:revision>1</cp:revision>
  <dcterms:created xsi:type="dcterms:W3CDTF">2026-10-25T15:34:25Z</dcterms:created>
  <dcterms:modified xsi:type="dcterms:W3CDTF">2026-10-25T15:34:25Z</dcterms:modified>
</cp:coreProperties>
</file>